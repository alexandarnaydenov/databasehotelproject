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y="5143500" cx="9144000"/>
  <p:notesSz cx="6858000" cy="9144000"/>
  <p:embeddedFontLst>
    <p:embeddedFont>
      <p:font typeface="Raleway"/>
      <p:regular r:id="rId36"/>
      <p:bold r:id="rId37"/>
      <p:italic r:id="rId38"/>
      <p:boldItalic r:id="rId39"/>
    </p:embeddedFont>
    <p:embeddedFont>
      <p:font typeface="Raleway ExtraBold"/>
      <p:bold r:id="rId40"/>
      <p:boldItalic r:id="rId41"/>
    </p:embeddedFont>
    <p:embeddedFont>
      <p:font typeface="Raleway Light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46" roundtripDataSignature="AMtx7mgeKBf5HE3XCVQPJ+y1k0YlYnX4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ExtraBold-bold.fntdata"/><Relationship Id="rId20" Type="http://schemas.openxmlformats.org/officeDocument/2006/relationships/slide" Target="slides/slide16.xml"/><Relationship Id="rId42" Type="http://schemas.openxmlformats.org/officeDocument/2006/relationships/font" Target="fonts/RalewayLight-regular.fntdata"/><Relationship Id="rId41" Type="http://schemas.openxmlformats.org/officeDocument/2006/relationships/font" Target="fonts/RalewayExtraBold-boldItalic.fntdata"/><Relationship Id="rId22" Type="http://schemas.openxmlformats.org/officeDocument/2006/relationships/slide" Target="slides/slide18.xml"/><Relationship Id="rId44" Type="http://schemas.openxmlformats.org/officeDocument/2006/relationships/font" Target="fonts/RalewayLight-italic.fntdata"/><Relationship Id="rId21" Type="http://schemas.openxmlformats.org/officeDocument/2006/relationships/slide" Target="slides/slide17.xml"/><Relationship Id="rId43" Type="http://schemas.openxmlformats.org/officeDocument/2006/relationships/font" Target="fonts/RalewayLight-bold.fntdata"/><Relationship Id="rId24" Type="http://schemas.openxmlformats.org/officeDocument/2006/relationships/slide" Target="slides/slide20.xml"/><Relationship Id="rId46" Type="http://customschemas.google.com/relationships/presentationmetadata" Target="metadata"/><Relationship Id="rId23" Type="http://schemas.openxmlformats.org/officeDocument/2006/relationships/slide" Target="slides/slide19.xml"/><Relationship Id="rId45" Type="http://schemas.openxmlformats.org/officeDocument/2006/relationships/font" Target="fonts/RalewayLigh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Raleway-bold.fntdata"/><Relationship Id="rId14" Type="http://schemas.openxmlformats.org/officeDocument/2006/relationships/slide" Target="slides/slide10.xml"/><Relationship Id="rId36" Type="http://schemas.openxmlformats.org/officeDocument/2006/relationships/font" Target="fonts/Raleway-regular.fntdata"/><Relationship Id="rId17" Type="http://schemas.openxmlformats.org/officeDocument/2006/relationships/slide" Target="slides/slide13.xml"/><Relationship Id="rId39" Type="http://schemas.openxmlformats.org/officeDocument/2006/relationships/font" Target="fonts/Raleway-boldItalic.fntdata"/><Relationship Id="rId16" Type="http://schemas.openxmlformats.org/officeDocument/2006/relationships/slide" Target="slides/slide12.xml"/><Relationship Id="rId38" Type="http://schemas.openxmlformats.org/officeDocument/2006/relationships/font" Target="fonts/Raleway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bg>
      <p:bgPr>
        <a:solidFill>
          <a:srgbClr val="FFB60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FFF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3"/>
          <p:cNvSpPr txBox="1"/>
          <p:nvPr>
            <p:ph type="ctrTitle"/>
          </p:nvPr>
        </p:nvSpPr>
        <p:spPr>
          <a:xfrm>
            <a:off x="685800" y="3287213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None/>
              <a:defRPr sz="6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Quote">
    <p:bg>
      <p:bgPr>
        <a:solidFill>
          <a:srgbClr val="FFB60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4"/>
          <p:cNvSpPr/>
          <p:nvPr/>
        </p:nvSpPr>
        <p:spPr>
          <a:xfrm flipH="1"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4"/>
          <p:cNvSpPr txBox="1"/>
          <p:nvPr>
            <p:ph idx="1" type="body"/>
          </p:nvPr>
        </p:nvSpPr>
        <p:spPr>
          <a:xfrm>
            <a:off x="1757200" y="2161800"/>
            <a:ext cx="56298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4191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i="1" sz="3000">
                <a:solidFill>
                  <a:srgbClr val="434343"/>
                </a:solidFill>
              </a:defRPr>
            </a:lvl1pPr>
            <a:lvl2pPr indent="-4191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i="1" sz="3000">
                <a:solidFill>
                  <a:srgbClr val="434343"/>
                </a:solidFill>
              </a:defRPr>
            </a:lvl2pPr>
            <a:lvl3pPr indent="-4191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i="1" sz="3000">
                <a:solidFill>
                  <a:srgbClr val="434343"/>
                </a:solidFill>
              </a:defRPr>
            </a:lvl3pPr>
            <a:lvl4pPr indent="-4191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i="1" sz="3000">
                <a:solidFill>
                  <a:srgbClr val="434343"/>
                </a:solidFill>
              </a:defRPr>
            </a:lvl4pPr>
            <a:lvl5pPr indent="-4191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i="1" sz="3000">
                <a:solidFill>
                  <a:srgbClr val="434343"/>
                </a:solidFill>
              </a:defRPr>
            </a:lvl5pPr>
            <a:lvl6pPr indent="-4191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i="1" sz="3000">
                <a:solidFill>
                  <a:srgbClr val="434343"/>
                </a:solidFill>
              </a:defRPr>
            </a:lvl6pPr>
            <a:lvl7pPr indent="-4191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●"/>
              <a:defRPr i="1" sz="3000">
                <a:solidFill>
                  <a:srgbClr val="434343"/>
                </a:solidFill>
              </a:defRPr>
            </a:lvl7pPr>
            <a:lvl8pPr indent="-4191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○"/>
              <a:defRPr i="1" sz="3000">
                <a:solidFill>
                  <a:srgbClr val="434343"/>
                </a:solidFill>
              </a:defRPr>
            </a:lvl8pPr>
            <a:lvl9pPr indent="-4191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Char char="■"/>
              <a:defRPr i="1" sz="30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" name="Google Shape;15;p34"/>
          <p:cNvSpPr txBox="1"/>
          <p:nvPr/>
        </p:nvSpPr>
        <p:spPr>
          <a:xfrm>
            <a:off x="205550" y="75075"/>
            <a:ext cx="7995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b="1" i="0" lang="en-US" sz="12000" u="none" cap="none" strike="noStrike">
                <a:solidFill>
                  <a:srgbClr val="434343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i="0" sz="12000" u="none" cap="none" strike="noStrike">
              <a:solidFill>
                <a:srgbClr val="434343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6" name="Google Shape;16;p34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5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5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" type="body"/>
          </p:nvPr>
        </p:nvSpPr>
        <p:spPr>
          <a:xfrm>
            <a:off x="922000" y="1887378"/>
            <a:ext cx="35433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35"/>
          <p:cNvSpPr txBox="1"/>
          <p:nvPr>
            <p:ph idx="2" type="body"/>
          </p:nvPr>
        </p:nvSpPr>
        <p:spPr>
          <a:xfrm>
            <a:off x="4678687" y="1887378"/>
            <a:ext cx="3543300" cy="30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2" name="Google Shape;22;p35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bg>
      <p:bgPr>
        <a:solidFill>
          <a:srgbClr val="FFB6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6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6"/>
          <p:cNvSpPr txBox="1"/>
          <p:nvPr>
            <p:ph type="ctrTitle"/>
          </p:nvPr>
        </p:nvSpPr>
        <p:spPr>
          <a:xfrm>
            <a:off x="685800" y="272634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p36"/>
          <p:cNvSpPr txBox="1"/>
          <p:nvPr>
            <p:ph idx="1" type="subTitle"/>
          </p:nvPr>
        </p:nvSpPr>
        <p:spPr>
          <a:xfrm>
            <a:off x="685800" y="3830653"/>
            <a:ext cx="7772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37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8"/>
          <p:cNvSpPr/>
          <p:nvPr/>
        </p:nvSpPr>
        <p:spPr>
          <a:xfrm>
            <a:off x="390735" y="379877"/>
            <a:ext cx="8362529" cy="4383746"/>
          </a:xfrm>
          <a:custGeom>
            <a:rect b="b" l="l" r="r" t="t"/>
            <a:pathLst>
              <a:path extrusionOk="0" fill="none" h="149667" w="285508">
                <a:moveTo>
                  <a:pt x="252882" y="0"/>
                </a:moveTo>
                <a:lnTo>
                  <a:pt x="13220" y="0"/>
                </a:lnTo>
                <a:lnTo>
                  <a:pt x="13220" y="0"/>
                </a:lnTo>
                <a:lnTo>
                  <a:pt x="11826" y="61"/>
                </a:lnTo>
                <a:lnTo>
                  <a:pt x="10552" y="243"/>
                </a:lnTo>
                <a:lnTo>
                  <a:pt x="9279" y="607"/>
                </a:lnTo>
                <a:lnTo>
                  <a:pt x="8066" y="1031"/>
                </a:lnTo>
                <a:lnTo>
                  <a:pt x="6914" y="1577"/>
                </a:lnTo>
                <a:lnTo>
                  <a:pt x="5822" y="2244"/>
                </a:lnTo>
                <a:lnTo>
                  <a:pt x="4791" y="3032"/>
                </a:lnTo>
                <a:lnTo>
                  <a:pt x="3881" y="3881"/>
                </a:lnTo>
                <a:lnTo>
                  <a:pt x="3032" y="4791"/>
                </a:lnTo>
                <a:lnTo>
                  <a:pt x="2244" y="5822"/>
                </a:lnTo>
                <a:lnTo>
                  <a:pt x="1577" y="6914"/>
                </a:lnTo>
                <a:lnTo>
                  <a:pt x="1031" y="8066"/>
                </a:lnTo>
                <a:lnTo>
                  <a:pt x="607" y="9279"/>
                </a:lnTo>
                <a:lnTo>
                  <a:pt x="243" y="10552"/>
                </a:lnTo>
                <a:lnTo>
                  <a:pt x="61" y="11826"/>
                </a:lnTo>
                <a:lnTo>
                  <a:pt x="0" y="13220"/>
                </a:lnTo>
                <a:lnTo>
                  <a:pt x="0" y="136447"/>
                </a:lnTo>
                <a:lnTo>
                  <a:pt x="0" y="136447"/>
                </a:lnTo>
                <a:lnTo>
                  <a:pt x="61" y="137841"/>
                </a:lnTo>
                <a:lnTo>
                  <a:pt x="243" y="139115"/>
                </a:lnTo>
                <a:lnTo>
                  <a:pt x="607" y="140388"/>
                </a:lnTo>
                <a:lnTo>
                  <a:pt x="1031" y="141601"/>
                </a:lnTo>
                <a:lnTo>
                  <a:pt x="1577" y="142753"/>
                </a:lnTo>
                <a:lnTo>
                  <a:pt x="2244" y="143845"/>
                </a:lnTo>
                <a:lnTo>
                  <a:pt x="3032" y="144876"/>
                </a:lnTo>
                <a:lnTo>
                  <a:pt x="3881" y="145786"/>
                </a:lnTo>
                <a:lnTo>
                  <a:pt x="4791" y="146635"/>
                </a:lnTo>
                <a:lnTo>
                  <a:pt x="5822" y="147423"/>
                </a:lnTo>
                <a:lnTo>
                  <a:pt x="6914" y="148090"/>
                </a:lnTo>
                <a:lnTo>
                  <a:pt x="8066" y="148636"/>
                </a:lnTo>
                <a:lnTo>
                  <a:pt x="9279" y="149060"/>
                </a:lnTo>
                <a:lnTo>
                  <a:pt x="10552" y="149424"/>
                </a:lnTo>
                <a:lnTo>
                  <a:pt x="11826" y="149606"/>
                </a:lnTo>
                <a:lnTo>
                  <a:pt x="13220" y="149667"/>
                </a:lnTo>
                <a:lnTo>
                  <a:pt x="272288" y="149667"/>
                </a:lnTo>
                <a:lnTo>
                  <a:pt x="272288" y="149667"/>
                </a:lnTo>
                <a:lnTo>
                  <a:pt x="273682" y="149606"/>
                </a:lnTo>
                <a:lnTo>
                  <a:pt x="274956" y="149424"/>
                </a:lnTo>
                <a:lnTo>
                  <a:pt x="276229" y="149060"/>
                </a:lnTo>
                <a:lnTo>
                  <a:pt x="277442" y="148636"/>
                </a:lnTo>
                <a:lnTo>
                  <a:pt x="278594" y="148090"/>
                </a:lnTo>
                <a:lnTo>
                  <a:pt x="279686" y="147423"/>
                </a:lnTo>
                <a:lnTo>
                  <a:pt x="280717" y="146635"/>
                </a:lnTo>
                <a:lnTo>
                  <a:pt x="281627" y="145786"/>
                </a:lnTo>
                <a:lnTo>
                  <a:pt x="282476" y="144876"/>
                </a:lnTo>
                <a:lnTo>
                  <a:pt x="283264" y="143845"/>
                </a:lnTo>
                <a:lnTo>
                  <a:pt x="283931" y="142753"/>
                </a:lnTo>
                <a:lnTo>
                  <a:pt x="284477" y="141601"/>
                </a:lnTo>
                <a:lnTo>
                  <a:pt x="284901" y="140388"/>
                </a:lnTo>
                <a:lnTo>
                  <a:pt x="285265" y="139115"/>
                </a:lnTo>
                <a:lnTo>
                  <a:pt x="285447" y="137841"/>
                </a:lnTo>
                <a:lnTo>
                  <a:pt x="285508" y="136447"/>
                </a:lnTo>
                <a:lnTo>
                  <a:pt x="285508" y="32626"/>
                </a:lnTo>
              </a:path>
            </a:pathLst>
          </a:custGeom>
          <a:noFill/>
          <a:ln cap="flat" cmpd="sng" w="19050">
            <a:solidFill>
              <a:srgbClr val="FFB6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8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  <a:defRPr/>
            </a:lvl9pPr>
          </a:lstStyle>
          <a:p/>
        </p:txBody>
      </p:sp>
      <p:sp>
        <p:nvSpPr>
          <p:cNvPr id="33" name="Google Shape;33;p38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922000" y="891775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  <a:defRPr b="0" i="0" sz="58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922000" y="1885951"/>
            <a:ext cx="6866100" cy="23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●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○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Char char="■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●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○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aleway Light"/>
              <a:buChar char="■"/>
              <a:defRPr b="0" i="0" sz="18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27.xml"/><Relationship Id="rId10" Type="http://schemas.openxmlformats.org/officeDocument/2006/relationships/slide" Target="/ppt/slides/slide30.xml"/><Relationship Id="rId13" Type="http://schemas.openxmlformats.org/officeDocument/2006/relationships/slide" Target="/ppt/slides/slide26.xml"/><Relationship Id="rId12" Type="http://schemas.openxmlformats.org/officeDocument/2006/relationships/slide" Target="/ppt/slides/slide28.xm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9" Type="http://schemas.openxmlformats.org/officeDocument/2006/relationships/slide" Target="/ppt/slides/slide31.xml"/><Relationship Id="rId5" Type="http://schemas.openxmlformats.org/officeDocument/2006/relationships/slide" Target="/ppt/slides/slide23.xml"/><Relationship Id="rId6" Type="http://schemas.openxmlformats.org/officeDocument/2006/relationships/slide" Target="/ppt/slides/slide29.xml"/><Relationship Id="rId7" Type="http://schemas.openxmlformats.org/officeDocument/2006/relationships/slide" Target="/ppt/slides/slide24.xml"/><Relationship Id="rId8" Type="http://schemas.openxmlformats.org/officeDocument/2006/relationships/slide" Target="/ppt/slides/slide25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slide" Target="/ppt/slides/slide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slide" Target="/ppt/slides/slide3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slide" Target="/ppt/slides/slide3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Relationship Id="rId4" Type="http://schemas.openxmlformats.org/officeDocument/2006/relationships/slide" Target="/ppt/slides/slide3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slide" Target="/ppt/slides/slide3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slide" Target="/ppt/slides/slide3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slide" Target="/ppt/slides/slide3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Relationship Id="rId4" Type="http://schemas.openxmlformats.org/officeDocument/2006/relationships/slide" Target="/ppt/slides/slide3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Relationship Id="rId4" Type="http://schemas.openxmlformats.org/officeDocument/2006/relationships/slide" Target="/ppt/slides/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"/>
          <p:cNvSpPr txBox="1"/>
          <p:nvPr>
            <p:ph type="ctrTitle"/>
          </p:nvPr>
        </p:nvSpPr>
        <p:spPr>
          <a:xfrm>
            <a:off x="685800" y="2351548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База от данни </a:t>
            </a:r>
            <a:br>
              <a:rPr lang="en-US"/>
            </a:br>
            <a:r>
              <a:rPr lang="en-US"/>
              <a:t>за  </a:t>
            </a:r>
            <a:r>
              <a:rPr lang="en-US">
                <a:solidFill>
                  <a:srgbClr val="434343"/>
                </a:solidFill>
              </a:rPr>
              <a:t>хотел</a:t>
            </a:r>
            <a:endParaRPr/>
          </a:p>
        </p:txBody>
      </p:sp>
      <p:sp>
        <p:nvSpPr>
          <p:cNvPr descr="Database Information System Big data, base PNG | PNGWave" id="39" name="Google Shape;39;p1"/>
          <p:cNvSpPr/>
          <p:nvPr/>
        </p:nvSpPr>
        <p:spPr>
          <a:xfrm>
            <a:off x="4419600" y="241935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Gray and black cylinder icon screengrab, Database server Computer ..." id="40" name="Google Shape;4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874" y="264761"/>
            <a:ext cx="1534651" cy="863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>
            <p:ph idx="1" type="body"/>
          </p:nvPr>
        </p:nvSpPr>
        <p:spPr>
          <a:xfrm>
            <a:off x="641498" y="2416982"/>
            <a:ext cx="7861004" cy="8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rPr b="1" lang="en-US" sz="2400"/>
              <a:t>Предметната област, върху която нашият екип е избрал да работи е хотелиерство. Ще създадем база данни, която подпомага управлението на хотела. Нашият проект ще спести време и усилия на целия екип на хотела. Автоматизацията на съхранението на данни ще подобри ефективността на персонала и ще оптимизира работния процес, което ще донесе повече приходи в бъдеще.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 txBox="1"/>
          <p:nvPr>
            <p:ph idx="12" type="sldNum"/>
          </p:nvPr>
        </p:nvSpPr>
        <p:spPr>
          <a:xfrm>
            <a:off x="8604400" y="4590300"/>
            <a:ext cx="5397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ray and black cylinder icon screengrab, Database server Computer ..." id="51" name="Google Shape;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874" y="264761"/>
            <a:ext cx="1534651" cy="8634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3149" y="493250"/>
            <a:ext cx="7301023" cy="421889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>
            <a:hlinkClick action="ppaction://hlinksldjump" r:id="rId5"/>
          </p:cNvPr>
          <p:cNvSpPr/>
          <p:nvPr/>
        </p:nvSpPr>
        <p:spPr>
          <a:xfrm>
            <a:off x="1832346" y="787941"/>
            <a:ext cx="184298" cy="188646"/>
          </a:xfrm>
          <a:prstGeom prst="mathPlus">
            <a:avLst>
              <a:gd fmla="val 23520" name="adj1"/>
            </a:avLst>
          </a:prstGeom>
          <a:solidFill>
            <a:srgbClr val="FFC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">
            <a:hlinkClick action="ppaction://hlinksldjump" r:id="rId6"/>
          </p:cNvPr>
          <p:cNvSpPr/>
          <p:nvPr/>
        </p:nvSpPr>
        <p:spPr>
          <a:xfrm>
            <a:off x="1747285" y="3536294"/>
            <a:ext cx="184298" cy="188646"/>
          </a:xfrm>
          <a:prstGeom prst="mathPlus">
            <a:avLst>
              <a:gd fmla="val 23520" name="adj1"/>
            </a:avLst>
          </a:prstGeom>
          <a:solidFill>
            <a:srgbClr val="FFC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>
            <a:hlinkClick action="ppaction://hlinksldjump" r:id="rId7"/>
          </p:cNvPr>
          <p:cNvSpPr/>
          <p:nvPr/>
        </p:nvSpPr>
        <p:spPr>
          <a:xfrm>
            <a:off x="7598725" y="899419"/>
            <a:ext cx="184298" cy="188646"/>
          </a:xfrm>
          <a:prstGeom prst="mathPlus">
            <a:avLst>
              <a:gd fmla="val 23520" name="adj1"/>
            </a:avLst>
          </a:prstGeom>
          <a:solidFill>
            <a:srgbClr val="FFC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>
            <a:hlinkClick action="ppaction://hlinksldjump" r:id="rId8"/>
          </p:cNvPr>
          <p:cNvSpPr/>
          <p:nvPr/>
        </p:nvSpPr>
        <p:spPr>
          <a:xfrm>
            <a:off x="6142070" y="899419"/>
            <a:ext cx="184298" cy="188646"/>
          </a:xfrm>
          <a:prstGeom prst="mathPlus">
            <a:avLst>
              <a:gd fmla="val 23520" name="adj1"/>
            </a:avLst>
          </a:prstGeom>
          <a:solidFill>
            <a:srgbClr val="FFC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>
            <a:hlinkClick action="ppaction://hlinksldjump" r:id="rId9"/>
          </p:cNvPr>
          <p:cNvSpPr/>
          <p:nvPr/>
        </p:nvSpPr>
        <p:spPr>
          <a:xfrm>
            <a:off x="4784652" y="875176"/>
            <a:ext cx="184298" cy="188646"/>
          </a:xfrm>
          <a:prstGeom prst="mathPlus">
            <a:avLst>
              <a:gd fmla="val 23520" name="adj1"/>
            </a:avLst>
          </a:prstGeom>
          <a:solidFill>
            <a:srgbClr val="FFC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>
            <a:hlinkClick action="ppaction://hlinksldjump" r:id="rId10"/>
          </p:cNvPr>
          <p:cNvSpPr/>
          <p:nvPr/>
        </p:nvSpPr>
        <p:spPr>
          <a:xfrm>
            <a:off x="3242926" y="717861"/>
            <a:ext cx="184298" cy="188646"/>
          </a:xfrm>
          <a:prstGeom prst="mathPlus">
            <a:avLst>
              <a:gd fmla="val 23520" name="adj1"/>
            </a:avLst>
          </a:prstGeom>
          <a:solidFill>
            <a:srgbClr val="FFC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>
            <a:hlinkClick action="ppaction://hlinksldjump" r:id="rId11"/>
          </p:cNvPr>
          <p:cNvSpPr/>
          <p:nvPr/>
        </p:nvSpPr>
        <p:spPr>
          <a:xfrm>
            <a:off x="5383619" y="3450429"/>
            <a:ext cx="184298" cy="188646"/>
          </a:xfrm>
          <a:prstGeom prst="mathPlus">
            <a:avLst>
              <a:gd fmla="val 23520" name="adj1"/>
            </a:avLst>
          </a:prstGeom>
          <a:solidFill>
            <a:srgbClr val="FFC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>
            <a:hlinkClick action="ppaction://hlinksldjump" r:id="rId12"/>
          </p:cNvPr>
          <p:cNvSpPr/>
          <p:nvPr/>
        </p:nvSpPr>
        <p:spPr>
          <a:xfrm>
            <a:off x="3515833" y="3217078"/>
            <a:ext cx="184298" cy="188646"/>
          </a:xfrm>
          <a:prstGeom prst="mathPlus">
            <a:avLst>
              <a:gd fmla="val 23520" name="adj1"/>
            </a:avLst>
          </a:prstGeom>
          <a:solidFill>
            <a:srgbClr val="FFC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>
            <a:hlinkClick action="ppaction://hlinksldjump" r:id="rId13"/>
          </p:cNvPr>
          <p:cNvSpPr/>
          <p:nvPr/>
        </p:nvSpPr>
        <p:spPr>
          <a:xfrm>
            <a:off x="7254950" y="2625330"/>
            <a:ext cx="184298" cy="188646"/>
          </a:xfrm>
          <a:prstGeom prst="mathPlus">
            <a:avLst>
              <a:gd fmla="val 23520" name="adj1"/>
            </a:avLst>
          </a:prstGeom>
          <a:solidFill>
            <a:srgbClr val="FFC000"/>
          </a:solidFill>
          <a:ln cap="flat" cmpd="sng" w="254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 txBox="1"/>
          <p:nvPr/>
        </p:nvSpPr>
        <p:spPr>
          <a:xfrm>
            <a:off x="5816897" y="3724940"/>
            <a:ext cx="293281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Схема на релациите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0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*при натискане на плюс се отваря съдържанието на дадената таблица</a:t>
            </a:r>
            <a:endParaRPr b="1" i="0" sz="1000" u="none" cap="none" strike="noStrike"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 txBox="1"/>
          <p:nvPr>
            <p:ph type="ctrTitle"/>
          </p:nvPr>
        </p:nvSpPr>
        <p:spPr>
          <a:xfrm>
            <a:off x="685800" y="115350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Прости заявки</a:t>
            </a:r>
            <a:endParaRPr/>
          </a:p>
        </p:txBody>
      </p:sp>
      <p:sp>
        <p:nvSpPr>
          <p:cNvPr id="68" name="Google Shape;68;p4"/>
          <p:cNvSpPr txBox="1"/>
          <p:nvPr>
            <p:ph idx="1" type="subTitle"/>
          </p:nvPr>
        </p:nvSpPr>
        <p:spPr>
          <a:xfrm>
            <a:off x="168350" y="1023251"/>
            <a:ext cx="77724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50"/>
            </a:br>
            <a:r>
              <a:rPr b="1" lang="en-US" sz="1050"/>
              <a:t>1)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SELECT id,guest_id,room_id,package_summaries_id,price_paid,start_date,end_date FROM Reservations</a:t>
            </a:r>
            <a:br>
              <a:rPr b="1" lang="en-US" sz="1050"/>
            </a:br>
            <a:r>
              <a:rPr b="1" lang="en-US" sz="1050"/>
              <a:t>WHERE start_date &gt;= '2020-05-03' AND end_date &lt;= '2020-05-09’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50"/>
            </a:br>
            <a:r>
              <a:rPr b="1" lang="en-US" sz="1050"/>
              <a:t>2)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SELECT room_id FROM Reservations</a:t>
            </a:r>
            <a:br>
              <a:rPr b="1" lang="en-US" sz="1050"/>
            </a:br>
            <a:r>
              <a:rPr b="1" lang="en-US" sz="1050"/>
              <a:t>WHERE start_date &lt;= '2020-05-04' AND end_date &gt;='2020-05-04’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50"/>
            </a:br>
            <a:r>
              <a:rPr b="1" lang="en-US" sz="1050"/>
              <a:t>3)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SELECT guest_id,room_id,price_paid,start_date,end_date FROM Reservations</a:t>
            </a:r>
            <a:br>
              <a:rPr b="1" lang="en-US" sz="1050"/>
            </a:br>
            <a:r>
              <a:rPr b="1" lang="en-US" sz="1050"/>
              <a:t>WHERE guest_id=2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50"/>
            </a:br>
            <a:r>
              <a:rPr b="1" lang="en-US" sz="1050"/>
              <a:t>4)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SELECT room_number FROM Rooms</a:t>
            </a:r>
            <a:br>
              <a:rPr b="1" lang="en-US" sz="1050"/>
            </a:br>
            <a:r>
              <a:rPr b="1" lang="en-US" sz="1050"/>
              <a:t>WHERE placement LIKE '%viewing the sea%‘</a:t>
            </a:r>
            <a:endParaRPr b="1"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5)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SELECT room_type_id,package_id,price FROM PackageSummaries</a:t>
            </a:r>
            <a:br>
              <a:rPr b="1" lang="en-US" sz="1050"/>
            </a:br>
            <a:r>
              <a:rPr b="1" lang="en-US" sz="1050"/>
              <a:t>WHERE price &lt;= 100</a:t>
            </a:r>
            <a:br>
              <a:rPr b="1" lang="en-US" sz="1050"/>
            </a:br>
            <a:r>
              <a:rPr b="1" lang="en-US" sz="1050"/>
              <a:t>ORDER BY price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lang="en-US"/>
            </a:br>
            <a:endParaRPr/>
          </a:p>
        </p:txBody>
      </p:sp>
      <p:sp>
        <p:nvSpPr>
          <p:cNvPr id="69" name="Google Shape;69;p4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1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>
            <p:ph type="ctrTitle"/>
          </p:nvPr>
        </p:nvSpPr>
        <p:spPr>
          <a:xfrm>
            <a:off x="685800" y="115350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Прости заявки</a:t>
            </a:r>
            <a:endParaRPr/>
          </a:p>
        </p:txBody>
      </p:sp>
      <p:sp>
        <p:nvSpPr>
          <p:cNvPr id="75" name="Google Shape;75;p5"/>
          <p:cNvSpPr txBox="1"/>
          <p:nvPr>
            <p:ph idx="1" type="subTitle"/>
          </p:nvPr>
        </p:nvSpPr>
        <p:spPr>
          <a:xfrm>
            <a:off x="168348" y="1023238"/>
            <a:ext cx="7772400" cy="34282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50"/>
            </a:br>
            <a:br>
              <a:rPr b="1" lang="en-US" sz="1050"/>
            </a:br>
            <a:r>
              <a:rPr b="1" lang="en-US" sz="1050"/>
              <a:t>6)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SELECT room_number,scan_lock_code,placement,room_type_id FROM Rooms</a:t>
            </a:r>
            <a:br>
              <a:rPr b="1" lang="en-US" sz="1050"/>
            </a:br>
            <a:r>
              <a:rPr b="1" lang="en-US" sz="1050"/>
              <a:t>WHERE placement LIKE '%3rd floor%’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50"/>
            </a:br>
            <a:r>
              <a:rPr b="1" lang="en-US" sz="1050"/>
              <a:t>7)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SELECT name,cost FROM Amenities</a:t>
            </a:r>
            <a:br>
              <a:rPr b="1" lang="en-US" sz="1050"/>
            </a:br>
            <a:r>
              <a:rPr b="1" lang="en-US" sz="1050"/>
              <a:t>WHERE cost&lt;=1000</a:t>
            </a:r>
            <a:br>
              <a:rPr lang="en-US" sz="1050"/>
            </a:br>
            <a:endParaRPr sz="1050"/>
          </a:p>
        </p:txBody>
      </p:sp>
      <p:sp>
        <p:nvSpPr>
          <p:cNvPr id="76" name="Google Shape;76;p5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1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>
            <p:ph type="ctrTitle"/>
          </p:nvPr>
        </p:nvSpPr>
        <p:spPr>
          <a:xfrm>
            <a:off x="636181" y="69200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Заявки върху две и повече релации</a:t>
            </a:r>
            <a:endParaRPr/>
          </a:p>
        </p:txBody>
      </p:sp>
      <p:sp>
        <p:nvSpPr>
          <p:cNvPr id="82" name="Google Shape;82;p6"/>
          <p:cNvSpPr txBox="1"/>
          <p:nvPr>
            <p:ph idx="1" type="subTitle"/>
          </p:nvPr>
        </p:nvSpPr>
        <p:spPr>
          <a:xfrm>
            <a:off x="189613" y="1158488"/>
            <a:ext cx="7772400" cy="34282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50"/>
            </a:br>
            <a:br>
              <a:rPr lang="en-US"/>
            </a:br>
            <a:br>
              <a:rPr b="1" lang="en-US" sz="1050"/>
            </a:br>
            <a:r>
              <a:rPr b="1" lang="en-US" sz="1050"/>
              <a:t>1)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SELECT DISTINCT id FROM Rooms</a:t>
            </a:r>
            <a:br>
              <a:rPr b="1" lang="en-US" sz="1050"/>
            </a:br>
            <a:r>
              <a:rPr b="1" lang="en-US" sz="1050"/>
              <a:t>EXCEPT</a:t>
            </a:r>
            <a:br>
              <a:rPr b="1" lang="en-US" sz="1050"/>
            </a:br>
            <a:r>
              <a:rPr b="1" lang="en-US" sz="1050"/>
              <a:t>SELECT room_id FROM Reservations</a:t>
            </a:r>
            <a:br>
              <a:rPr b="1" lang="en-US" sz="1050"/>
            </a:br>
            <a:r>
              <a:rPr b="1" lang="en-US" sz="1050"/>
              <a:t>WHERE start_date &lt;= '2020-05-07' AND end_date &gt;='2020-05-07’</a:t>
            </a:r>
            <a:br>
              <a:rPr b="1" lang="en-US" sz="1050"/>
            </a:br>
            <a:br>
              <a:rPr b="1" lang="en-US" sz="1050"/>
            </a:br>
            <a:r>
              <a:rPr b="1" lang="en-US" sz="1050"/>
              <a:t>2)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SELECT  name, phone_num</a:t>
            </a:r>
            <a:br>
              <a:rPr b="1" lang="en-US" sz="1050"/>
            </a:br>
            <a:r>
              <a:rPr b="1" lang="en-US" sz="1050"/>
              <a:t>    FROM Guests</a:t>
            </a:r>
            <a:br>
              <a:rPr b="1" lang="en-US" sz="1050"/>
            </a:br>
            <a:r>
              <a:rPr b="1" lang="en-US" sz="1050"/>
              <a:t>    LEFT JOIN Reservations</a:t>
            </a:r>
            <a:br>
              <a:rPr b="1" lang="en-US" sz="1050"/>
            </a:br>
            <a:r>
              <a:rPr b="1" lang="en-US" sz="1050"/>
              <a:t>    ON Guests.id = Reservations.guest_id</a:t>
            </a:r>
            <a:br>
              <a:rPr b="1" lang="en-US" sz="1050"/>
            </a:br>
            <a:r>
              <a:rPr b="1" lang="en-US" sz="1050"/>
              <a:t>INTERSECT</a:t>
            </a:r>
            <a:br>
              <a:rPr b="1" lang="en-US" sz="1050"/>
            </a:br>
            <a:r>
              <a:rPr b="1" lang="en-US" sz="1050"/>
              <a:t>    SELECT  name,phone_num</a:t>
            </a:r>
            <a:br>
              <a:rPr b="1" lang="en-US" sz="1050"/>
            </a:br>
            <a:r>
              <a:rPr b="1" lang="en-US" sz="1050"/>
              <a:t>    FROM Guests</a:t>
            </a:r>
            <a:br>
              <a:rPr b="1" lang="en-US" sz="1050"/>
            </a:br>
            <a:r>
              <a:rPr b="1" lang="en-US" sz="1050"/>
              <a:t>    RIGHT JOIN Reservations</a:t>
            </a:r>
            <a:br>
              <a:rPr b="1" lang="en-US" sz="1050"/>
            </a:br>
            <a:r>
              <a:rPr b="1" lang="en-US" sz="1050"/>
              <a:t>    ON Guests.id = Reservations.guest_id</a:t>
            </a:r>
            <a:br>
              <a:rPr b="1" lang="en-US" sz="1050"/>
            </a:br>
            <a:br>
              <a:rPr b="1" lang="en-US" sz="1050"/>
            </a:br>
            <a:br>
              <a:rPr lang="en-US"/>
            </a:b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2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/>
          <p:nvPr>
            <p:ph type="ctrTitle"/>
          </p:nvPr>
        </p:nvSpPr>
        <p:spPr>
          <a:xfrm>
            <a:off x="636181" y="69200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Заявки върху две и повече релации</a:t>
            </a:r>
            <a:endParaRPr/>
          </a:p>
        </p:txBody>
      </p:sp>
      <p:sp>
        <p:nvSpPr>
          <p:cNvPr id="89" name="Google Shape;89;p7"/>
          <p:cNvSpPr txBox="1"/>
          <p:nvPr>
            <p:ph idx="1" type="subTitle"/>
          </p:nvPr>
        </p:nvSpPr>
        <p:spPr>
          <a:xfrm>
            <a:off x="196701" y="1390500"/>
            <a:ext cx="7772400" cy="34282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50"/>
            </a:br>
            <a:br>
              <a:rPr lang="en-US"/>
            </a:br>
            <a:r>
              <a:rPr b="1" lang="en-US" sz="1050"/>
              <a:t>3)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SELECT Reservations.guest_id,name,Reservations.end_date,price_paid FROM Reservations</a:t>
            </a:r>
            <a:br>
              <a:rPr b="1" lang="en-US" sz="1050"/>
            </a:br>
            <a:r>
              <a:rPr b="1" lang="en-US" sz="1050"/>
              <a:t>JOIN RoomGuests</a:t>
            </a:r>
            <a:br>
              <a:rPr b="1" lang="en-US" sz="1050"/>
            </a:br>
            <a:r>
              <a:rPr b="1" lang="en-US" sz="1050"/>
              <a:t>ON RoomGuests.id = Reservations.guest_id</a:t>
            </a:r>
            <a:br>
              <a:rPr b="1" lang="en-US" sz="1050"/>
            </a:br>
            <a:r>
              <a:rPr b="1" lang="en-US" sz="1050"/>
              <a:t>JOIN Guests </a:t>
            </a:r>
            <a:br>
              <a:rPr b="1" lang="en-US" sz="1050"/>
            </a:br>
            <a:r>
              <a:rPr b="1" lang="en-US" sz="1050"/>
              <a:t>ON Guests.id = Reservations.guest_id</a:t>
            </a:r>
            <a:br>
              <a:rPr b="1" lang="en-US" sz="1050"/>
            </a:br>
            <a:r>
              <a:rPr b="1" lang="en-US" sz="1050"/>
              <a:t>WHERE Reservations.end_date &lt;= '2020-05-09'</a:t>
            </a:r>
            <a:br>
              <a:rPr b="1" lang="en-US" sz="1050"/>
            </a:br>
            <a:r>
              <a:rPr b="1" lang="en-US" sz="1050"/>
              <a:t>EXCEPT</a:t>
            </a:r>
            <a:br>
              <a:rPr b="1" lang="en-US" sz="1050"/>
            </a:br>
            <a:r>
              <a:rPr b="1" lang="en-US" sz="1050"/>
              <a:t>SELECT Reservations.guest_id,name,Reservations.end_date,price_paid FROM Reservations</a:t>
            </a:r>
            <a:br>
              <a:rPr b="1" lang="en-US" sz="1050"/>
            </a:br>
            <a:r>
              <a:rPr b="1" lang="en-US" sz="1050"/>
              <a:t>JOIN RoomGuests</a:t>
            </a:r>
            <a:br>
              <a:rPr b="1" lang="en-US" sz="1050"/>
            </a:br>
            <a:r>
              <a:rPr b="1" lang="en-US" sz="1050"/>
              <a:t>ON RoomGuests.id = Reservations.guest_id</a:t>
            </a:r>
            <a:br>
              <a:rPr b="1" lang="en-US" sz="1050"/>
            </a:br>
            <a:r>
              <a:rPr b="1" lang="en-US" sz="1050"/>
              <a:t>JOIN Guests </a:t>
            </a:r>
            <a:br>
              <a:rPr b="1" lang="en-US" sz="1050"/>
            </a:br>
            <a:r>
              <a:rPr b="1" lang="en-US" sz="1050"/>
              <a:t>ON Guests.id = Reservations.guest_id</a:t>
            </a:r>
            <a:br>
              <a:rPr b="1" lang="en-US" sz="1050"/>
            </a:br>
            <a:r>
              <a:rPr b="1" lang="en-US" sz="1050"/>
              <a:t>WHERE price_paid &lt; 250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lang="en-US" sz="1050"/>
            </a:br>
            <a:br>
              <a:rPr lang="en-US" sz="1050"/>
            </a:br>
            <a:br>
              <a:rPr b="1" lang="en-US" sz="1050"/>
            </a:br>
            <a:br>
              <a:rPr b="1" lang="en-US" sz="1050"/>
            </a:br>
            <a:br>
              <a:rPr lang="en-US"/>
            </a:br>
            <a:endParaRPr/>
          </a:p>
        </p:txBody>
      </p:sp>
      <p:sp>
        <p:nvSpPr>
          <p:cNvPr id="90" name="Google Shape;90;p7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2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"/>
          <p:cNvSpPr txBox="1"/>
          <p:nvPr>
            <p:ph type="ctrTitle"/>
          </p:nvPr>
        </p:nvSpPr>
        <p:spPr>
          <a:xfrm>
            <a:off x="636181" y="69200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Заявки върху две и повече релации</a:t>
            </a:r>
            <a:endParaRPr/>
          </a:p>
        </p:txBody>
      </p:sp>
      <p:sp>
        <p:nvSpPr>
          <p:cNvPr id="96" name="Google Shape;96;p8"/>
          <p:cNvSpPr txBox="1"/>
          <p:nvPr>
            <p:ph idx="1" type="subTitle"/>
          </p:nvPr>
        </p:nvSpPr>
        <p:spPr>
          <a:xfrm>
            <a:off x="168348" y="1577569"/>
            <a:ext cx="7772400" cy="34282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50"/>
            </a:br>
            <a:br>
              <a:rPr lang="en-US"/>
            </a:br>
            <a:br>
              <a:rPr lang="en-US" sz="1050"/>
            </a:br>
            <a:br>
              <a:rPr lang="en-US" sz="1050"/>
            </a:br>
            <a:br>
              <a:rPr b="1" lang="en-US" sz="1050"/>
            </a:br>
            <a:br>
              <a:rPr b="1" lang="en-US" sz="1050"/>
            </a:br>
            <a:br>
              <a:rPr lang="en-US"/>
            </a:br>
            <a:endParaRPr/>
          </a:p>
        </p:txBody>
      </p:sp>
      <p:sp>
        <p:nvSpPr>
          <p:cNvPr id="97" name="Google Shape;97;p8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2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691118" y="1851802"/>
            <a:ext cx="6122581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5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4)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SELECT COUNT(id) AS NumberOfGuests 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FROM RoomGuests </a:t>
            </a:r>
            <a:endParaRPr b="0" i="0" sz="105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WHERE reservation_id IN</a:t>
            </a:r>
            <a:endParaRPr b="0" i="0" sz="105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(</a:t>
            </a:r>
            <a:endParaRPr b="0" i="0" sz="105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SELECT Reservations.id FROM Reservations</a:t>
            </a:r>
            <a:endParaRPr b="0" i="0" sz="105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 PackageSummaries ON package_summaries_id = PackageSummaries.id</a:t>
            </a:r>
            <a:endParaRPr b="0" i="0" sz="105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JOIN Packages ON package_id = Packages.id</a:t>
            </a:r>
            <a:endParaRPr b="0" i="0" sz="105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WHERE NOT Packages.type = 'Standart'</a:t>
            </a:r>
            <a:endParaRPr b="0" i="0" sz="105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INTERSECT </a:t>
            </a:r>
            <a:endParaRPr b="0" i="0" sz="105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SELECT id FROM Reservations</a:t>
            </a:r>
            <a:endParaRPr b="0" i="0" sz="105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WHERE start_date &lt;= '2020-05-03' </a:t>
            </a:r>
            <a:endParaRPr b="0" i="0" sz="105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AND end_date &gt;= '2020-05-03' </a:t>
            </a:r>
            <a:endParaRPr b="0" i="0" sz="105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lt1"/>
                </a:solidFill>
                <a:latin typeface="Raleway Light"/>
                <a:ea typeface="Raleway Light"/>
                <a:cs typeface="Raleway Light"/>
                <a:sym typeface="Raleway Light"/>
              </a:rPr>
              <a:t>)</a:t>
            </a:r>
            <a:endParaRPr b="0" i="0" sz="105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050" u="none" cap="none" strike="noStrike">
              <a:solidFill>
                <a:schemeClr val="lt1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"/>
          <p:cNvSpPr txBox="1"/>
          <p:nvPr>
            <p:ph type="ctrTitle"/>
          </p:nvPr>
        </p:nvSpPr>
        <p:spPr>
          <a:xfrm>
            <a:off x="636181" y="692002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Заявки върху две и повече релации</a:t>
            </a:r>
            <a:endParaRPr/>
          </a:p>
        </p:txBody>
      </p:sp>
      <p:sp>
        <p:nvSpPr>
          <p:cNvPr id="104" name="Google Shape;104;p9"/>
          <p:cNvSpPr txBox="1"/>
          <p:nvPr>
            <p:ph idx="1" type="subTitle"/>
          </p:nvPr>
        </p:nvSpPr>
        <p:spPr>
          <a:xfrm>
            <a:off x="636181" y="1715240"/>
            <a:ext cx="7772400" cy="34282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i="1" lang="en-US" sz="1050"/>
              <a:t>5)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SELECT room_id,price_paid,start_date,end_date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FROM Reservations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WHERE id IN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(SELECT reservation_id FROM RoomGuests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WHERE guest_id  = 4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INTERSECT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SELECT id FROM Reservations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WHERE package_summaries_id IN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(SELECT id FROM PackageSummaries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WHERE package_id = 3))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 b="1"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6)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SELECT DISTINCT Guests.id, Guests.name FROM Guests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EXCEPT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SELECT DISTINCT Guests.id, Guests.name FROM Guests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JOIN Reservations on Guests.id= Reservations.guest_id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lang="en-US" sz="1050"/>
            </a:b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lang="en-US" sz="1050"/>
            </a:br>
            <a:br>
              <a:rPr lang="en-US" sz="1050"/>
            </a:br>
            <a:br>
              <a:rPr lang="en-US" sz="1050"/>
            </a:br>
            <a:br>
              <a:rPr b="1" lang="en-US" sz="1050"/>
            </a:br>
            <a:br>
              <a:rPr b="1" lang="en-US" sz="1050"/>
            </a:br>
            <a:br>
              <a:rPr lang="en-US"/>
            </a:br>
            <a:endParaRPr/>
          </a:p>
        </p:txBody>
      </p:sp>
      <p:sp>
        <p:nvSpPr>
          <p:cNvPr id="105" name="Google Shape;105;p9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2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 txBox="1"/>
          <p:nvPr>
            <p:ph type="ctrTitle"/>
          </p:nvPr>
        </p:nvSpPr>
        <p:spPr>
          <a:xfrm>
            <a:off x="685800" y="0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Подзаявки</a:t>
            </a:r>
            <a:endParaRPr/>
          </a:p>
        </p:txBody>
      </p:sp>
      <p:sp>
        <p:nvSpPr>
          <p:cNvPr id="111" name="Google Shape;111;p10"/>
          <p:cNvSpPr txBox="1"/>
          <p:nvPr>
            <p:ph idx="1" type="subTitle"/>
          </p:nvPr>
        </p:nvSpPr>
        <p:spPr>
          <a:xfrm>
            <a:off x="168348" y="710016"/>
            <a:ext cx="7772400" cy="34282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50"/>
            </a:br>
            <a:br>
              <a:rPr b="1" lang="en-US" sz="1050"/>
            </a:br>
            <a:r>
              <a:rPr b="1" lang="en-US" sz="1050"/>
              <a:t>1)</a:t>
            </a:r>
            <a:br>
              <a:rPr b="1" lang="en-US" sz="1050"/>
            </a:br>
            <a:r>
              <a:rPr b="1" lang="en-US" sz="1050"/>
              <a:t>SELECT room_number,scan_lock_code,placement,room_type_id FROM Rooms </a:t>
            </a:r>
            <a:br>
              <a:rPr b="1" lang="en-US" sz="1050"/>
            </a:br>
            <a:r>
              <a:rPr b="1" lang="en-US" sz="1050"/>
              <a:t>WHERE Rooms.placement LIKE '%1st floor%' AND room_number in</a:t>
            </a:r>
            <a:br>
              <a:rPr b="1" lang="en-US" sz="1050"/>
            </a:br>
            <a:r>
              <a:rPr b="1" lang="en-US" sz="1050"/>
              <a:t>(SELECT DISTINCT room_id FROM Reservations</a:t>
            </a:r>
            <a:br>
              <a:rPr b="1" lang="en-US" sz="1050"/>
            </a:br>
            <a:r>
              <a:rPr b="1" lang="en-US" sz="1050"/>
              <a:t>JOIN Rooms </a:t>
            </a:r>
            <a:br>
              <a:rPr b="1" lang="en-US" sz="1050"/>
            </a:br>
            <a:r>
              <a:rPr b="1" lang="en-US" sz="1050"/>
              <a:t>ON Rooms.id=Reservations.room_id)</a:t>
            </a:r>
            <a:br>
              <a:rPr b="1" lang="en-US" sz="1050"/>
            </a:br>
            <a:br>
              <a:rPr b="1" lang="en-US" sz="1050"/>
            </a:br>
            <a:r>
              <a:rPr b="1" lang="en-US" sz="1050"/>
              <a:t>2)</a:t>
            </a:r>
            <a:br>
              <a:rPr b="1" lang="en-US" sz="1050"/>
            </a:br>
            <a:r>
              <a:rPr b="1" lang="en-US" sz="1050"/>
              <a:t>SELECT DISTINCT Guests.id,name,egn  from RoomGuests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JOIN Guests ON RoomGuests.guest_id = Guests.id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WHERE reservation_id IN 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(SELECT id from Reservations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WHERE room_id = 9)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lang="en-US" sz="1000"/>
            </a:br>
            <a:br>
              <a:rPr b="1" lang="en-US" sz="950"/>
            </a:br>
            <a:br>
              <a:rPr lang="en-US" sz="1050"/>
            </a:b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 sz="1050"/>
          </a:p>
        </p:txBody>
      </p:sp>
      <p:sp>
        <p:nvSpPr>
          <p:cNvPr id="112" name="Google Shape;112;p10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3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/>
          <p:nvPr>
            <p:ph type="ctrTitle"/>
          </p:nvPr>
        </p:nvSpPr>
        <p:spPr>
          <a:xfrm>
            <a:off x="685800" y="0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Подзаявки</a:t>
            </a:r>
            <a:endParaRPr/>
          </a:p>
        </p:txBody>
      </p:sp>
      <p:sp>
        <p:nvSpPr>
          <p:cNvPr id="118" name="Google Shape;118;p11"/>
          <p:cNvSpPr txBox="1"/>
          <p:nvPr>
            <p:ph idx="1" type="subTitle"/>
          </p:nvPr>
        </p:nvSpPr>
        <p:spPr>
          <a:xfrm>
            <a:off x="303027" y="695250"/>
            <a:ext cx="7772400" cy="34282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50"/>
            </a:br>
            <a:br>
              <a:rPr b="1" lang="en-US" sz="1000"/>
            </a:br>
            <a:r>
              <a:rPr b="1" lang="en-US" sz="1000"/>
              <a:t>3)</a:t>
            </a:r>
            <a:br>
              <a:rPr b="1" lang="en-US" sz="1000"/>
            </a:br>
            <a:r>
              <a:rPr b="1" lang="en-US" sz="1000"/>
              <a:t>SELECT AVG(price_paid) as AVG_PAID_PRICE FROM Reservations</a:t>
            </a:r>
            <a:br>
              <a:rPr b="1" lang="en-US" sz="1000"/>
            </a:br>
            <a:r>
              <a:rPr b="1" lang="en-US" sz="1000"/>
              <a:t>WHERE room_id IN</a:t>
            </a:r>
            <a:br>
              <a:rPr b="1" lang="en-US" sz="1000"/>
            </a:br>
            <a:r>
              <a:rPr b="1" lang="en-US" sz="1000"/>
              <a:t>(</a:t>
            </a:r>
            <a:br>
              <a:rPr b="1" lang="en-US" sz="1000"/>
            </a:br>
            <a:r>
              <a:rPr b="1" lang="en-US" sz="1000"/>
              <a:t>SELECT id FROM Rooms</a:t>
            </a:r>
            <a:br>
              <a:rPr b="1" lang="en-US" sz="1000"/>
            </a:br>
            <a:r>
              <a:rPr b="1" lang="en-US" sz="1000"/>
              <a:t>WHERE room_type_id IN</a:t>
            </a:r>
            <a:br>
              <a:rPr b="1" lang="en-US" sz="1000"/>
            </a:br>
            <a:r>
              <a:rPr b="1" lang="en-US" sz="1000"/>
              <a:t>(SELECT id FROM RoomTypes</a:t>
            </a:r>
            <a:br>
              <a:rPr b="1" lang="en-US" sz="1000"/>
            </a:br>
            <a:r>
              <a:rPr b="1" lang="en-US" sz="1000"/>
              <a:t>WHERE type = 'Single')</a:t>
            </a:r>
            <a:br>
              <a:rPr b="1" lang="en-US" sz="1000"/>
            </a:br>
            <a:r>
              <a:rPr b="1" lang="en-US" sz="1000"/>
              <a:t>)</a:t>
            </a:r>
            <a:br>
              <a:rPr b="1" lang="en-US" sz="1000"/>
            </a:br>
            <a:r>
              <a:rPr b="1" lang="en-US" sz="1000"/>
              <a:t>AND start_date &gt;= '2020-05-10’</a:t>
            </a:r>
            <a:br>
              <a:rPr b="1" lang="en-US" sz="1000"/>
            </a:br>
            <a:endParaRPr b="1"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4)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SELECT DISTINCT name,egn,phone_num from Guests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WHERE id IN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(SELECT guest_id FROM RoomGuests</a:t>
            </a:r>
            <a:endParaRPr b="1"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WHERE reservation_id IN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(SELECT id FROM Reservations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WHERE package_summaries_id IN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( SELECT id FROM PackageSummaries</a:t>
            </a:r>
            <a:endParaRPr b="1"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WHERE package_id = 2)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))</a:t>
            </a:r>
            <a:br>
              <a:rPr b="1" lang="en-US" sz="1050"/>
            </a:br>
            <a:br>
              <a:rPr b="1" lang="en-US" sz="1050"/>
            </a:b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 sz="1050"/>
          </a:p>
        </p:txBody>
      </p:sp>
      <p:sp>
        <p:nvSpPr>
          <p:cNvPr id="119" name="Google Shape;119;p11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3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"/>
          <p:cNvSpPr txBox="1"/>
          <p:nvPr>
            <p:ph type="ctrTitle"/>
          </p:nvPr>
        </p:nvSpPr>
        <p:spPr>
          <a:xfrm>
            <a:off x="685800" y="0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Подзаявки</a:t>
            </a:r>
            <a:endParaRPr/>
          </a:p>
        </p:txBody>
      </p:sp>
      <p:sp>
        <p:nvSpPr>
          <p:cNvPr id="125" name="Google Shape;125;p12"/>
          <p:cNvSpPr txBox="1"/>
          <p:nvPr>
            <p:ph idx="1" type="subTitle"/>
          </p:nvPr>
        </p:nvSpPr>
        <p:spPr>
          <a:xfrm>
            <a:off x="303027" y="632904"/>
            <a:ext cx="7772400" cy="34282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00"/>
            </a:br>
            <a:br>
              <a:rPr b="1" lang="en-US" sz="1000"/>
            </a:br>
            <a:r>
              <a:rPr b="1" i="1" lang="en-US" sz="1000"/>
              <a:t>5)</a:t>
            </a:r>
            <a:br>
              <a:rPr b="1" lang="en-US" sz="1000"/>
            </a:br>
            <a:r>
              <a:rPr b="1" lang="en-US" sz="1000"/>
              <a:t>SELECT scan_lock_code FROM Rooms</a:t>
            </a:r>
            <a:br>
              <a:rPr b="1" lang="en-US" sz="1000"/>
            </a:br>
            <a:r>
              <a:rPr b="1" lang="en-US" sz="1000"/>
              <a:t>WHERE id IN</a:t>
            </a:r>
            <a:br>
              <a:rPr b="1" lang="en-US" sz="1000"/>
            </a:br>
            <a:r>
              <a:rPr b="1" lang="en-US" sz="1000"/>
              <a:t>(SELECT room_id FROM Reservations</a:t>
            </a:r>
            <a:br>
              <a:rPr b="1" lang="en-US" sz="1000"/>
            </a:br>
            <a:r>
              <a:rPr b="1" lang="en-US" sz="1000"/>
              <a:t>WHERE package_summaries_id IN </a:t>
            </a:r>
            <a:br>
              <a:rPr b="1" lang="en-US" sz="1000"/>
            </a:br>
            <a:r>
              <a:rPr b="1" lang="en-US" sz="1000"/>
              <a:t>(SELECT id FROM PackageSummaries</a:t>
            </a:r>
            <a:br>
              <a:rPr b="1" lang="en-US" sz="1000"/>
            </a:br>
            <a:r>
              <a:rPr b="1" lang="en-US" sz="1000"/>
              <a:t>WHERE price &lt;= 100))</a:t>
            </a:r>
            <a:br>
              <a:rPr lang="en-US" sz="1000"/>
            </a:br>
            <a:endParaRPr sz="10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00"/>
              <a:t>	</a:t>
            </a:r>
            <a:r>
              <a:rPr b="1" i="1" lang="en-US" sz="1000"/>
              <a:t>6)</a:t>
            </a:r>
            <a:br>
              <a:rPr b="1" lang="en-US" sz="1000"/>
            </a:br>
            <a:r>
              <a:rPr b="1" lang="en-US" sz="1000"/>
              <a:t>SELECT id,name,egn,phone_num FROM Guests</a:t>
            </a:r>
            <a:br>
              <a:rPr b="1" lang="en-US" sz="1000"/>
            </a:br>
            <a:r>
              <a:rPr b="1" lang="en-US" sz="1000"/>
              <a:t>WHERE id IN</a:t>
            </a:r>
            <a:br>
              <a:rPr b="1" lang="en-US" sz="1000"/>
            </a:br>
            <a:r>
              <a:rPr b="1" lang="en-US" sz="1000"/>
              <a:t>(SELECT guest_id FROM RoomGuests</a:t>
            </a:r>
            <a:br>
              <a:rPr b="1" lang="en-US" sz="1000"/>
            </a:br>
            <a:r>
              <a:rPr b="1" lang="en-US" sz="1000"/>
              <a:t>WHERE reservation_id IN</a:t>
            </a:r>
            <a:br>
              <a:rPr b="1" lang="en-US" sz="1000"/>
            </a:br>
            <a:r>
              <a:rPr b="1" lang="en-US" sz="1000"/>
              <a:t>(SELECT id FROM Reservations</a:t>
            </a:r>
            <a:br>
              <a:rPr b="1" lang="en-US" sz="1000"/>
            </a:br>
            <a:r>
              <a:rPr b="1" lang="en-US" sz="1000"/>
              <a:t>WHERE room_id IN</a:t>
            </a:r>
            <a:br>
              <a:rPr b="1" lang="en-US" sz="1000"/>
            </a:br>
            <a:r>
              <a:rPr b="1" lang="en-US" sz="1000"/>
              <a:t>(SELECT id FROM Rooms</a:t>
            </a:r>
            <a:br>
              <a:rPr b="1" lang="en-US" sz="1000"/>
            </a:br>
            <a:r>
              <a:rPr b="1" lang="en-US" sz="1000"/>
              <a:t>WHERE placement LIKE '5%')</a:t>
            </a:r>
            <a:br>
              <a:rPr b="1" lang="en-US" sz="1000"/>
            </a:br>
            <a:r>
              <a:rPr b="1" lang="en-US" sz="1000"/>
              <a:t>AND </a:t>
            </a:r>
            <a:br>
              <a:rPr b="1" lang="en-US" sz="1000"/>
            </a:br>
            <a:r>
              <a:rPr b="1" lang="en-US" sz="1000"/>
              <a:t>package_summaries_id IN</a:t>
            </a:r>
            <a:br>
              <a:rPr b="1" lang="en-US" sz="1000"/>
            </a:br>
            <a:r>
              <a:rPr b="1" lang="en-US" sz="1000"/>
              <a:t>(SELECT id FROM PackageSummaries</a:t>
            </a:r>
            <a:br>
              <a:rPr b="1" lang="en-US" sz="1000"/>
            </a:br>
            <a:r>
              <a:rPr b="1" lang="en-US" sz="1000"/>
              <a:t>WHERE package_id IN</a:t>
            </a:r>
            <a:br>
              <a:rPr b="1" lang="en-US" sz="1000"/>
            </a:br>
            <a:r>
              <a:rPr b="1" lang="en-US" sz="1000"/>
              <a:t>(SELECT id FROM Packages</a:t>
            </a:r>
            <a:br>
              <a:rPr b="1" lang="en-US" sz="1000"/>
            </a:br>
            <a:r>
              <a:rPr b="1" lang="en-US" sz="1000"/>
              <a:t>WHERE type = 'All Inclusive'))</a:t>
            </a:r>
            <a:br>
              <a:rPr b="1" lang="en-US" sz="1000"/>
            </a:br>
            <a:r>
              <a:rPr b="1" lang="en-US" sz="1000"/>
              <a:t>AND price_paid &gt; 500))</a:t>
            </a:r>
            <a:endParaRPr sz="10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lang="en-US" sz="1050"/>
            </a:br>
            <a:br>
              <a:rPr b="1" lang="en-US" sz="1050"/>
            </a:br>
            <a:br>
              <a:rPr b="1" lang="en-US" sz="1050"/>
            </a:b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 sz="1050"/>
          </a:p>
        </p:txBody>
      </p:sp>
      <p:sp>
        <p:nvSpPr>
          <p:cNvPr id="126" name="Google Shape;126;p12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3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ctrTitle"/>
          </p:nvPr>
        </p:nvSpPr>
        <p:spPr>
          <a:xfrm>
            <a:off x="685800" y="0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Съединения</a:t>
            </a:r>
            <a:endParaRPr/>
          </a:p>
        </p:txBody>
      </p:sp>
      <p:sp>
        <p:nvSpPr>
          <p:cNvPr id="132" name="Google Shape;132;p13"/>
          <p:cNvSpPr txBox="1"/>
          <p:nvPr>
            <p:ph idx="1" type="subTitle"/>
          </p:nvPr>
        </p:nvSpPr>
        <p:spPr>
          <a:xfrm>
            <a:off x="303027" y="695250"/>
            <a:ext cx="7772400" cy="342826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50"/>
            </a:br>
            <a:br>
              <a:rPr b="1" lang="en-US" sz="1000"/>
            </a:br>
            <a:br>
              <a:rPr b="1" lang="en-US" sz="1050"/>
            </a:br>
            <a:r>
              <a:rPr b="1" i="1" lang="en-US" sz="1050"/>
              <a:t>1)</a:t>
            </a:r>
            <a:br>
              <a:rPr b="1" lang="en-US" sz="1050"/>
            </a:br>
            <a:r>
              <a:rPr b="1" lang="en-US" sz="1050"/>
              <a:t>SELECT room_number FROM Rooms</a:t>
            </a:r>
            <a:br>
              <a:rPr b="1" lang="en-US" sz="1050"/>
            </a:br>
            <a:r>
              <a:rPr b="1" lang="en-US" sz="1050"/>
              <a:t>LEFT JOIN Reservations ON Rooms.id=Reservations.room_id</a:t>
            </a:r>
            <a:br>
              <a:rPr b="1" lang="en-US" sz="1050"/>
            </a:br>
            <a:r>
              <a:rPr b="1" lang="en-US" sz="1050"/>
              <a:t>WHERE Reservations.room_id is NULL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lang="en-US" sz="1050"/>
            </a:br>
            <a:r>
              <a:rPr b="1" i="1" lang="en-US" sz="1050"/>
              <a:t>2)</a:t>
            </a:r>
            <a:br>
              <a:rPr b="1" lang="en-US" sz="1050"/>
            </a:br>
            <a:r>
              <a:rPr b="1" lang="en-US" sz="1050"/>
              <a:t>SELECT DISTINCT Guests.id, Guests.name FROM Reservations</a:t>
            </a:r>
            <a:br>
              <a:rPr b="1" lang="en-US" sz="1050"/>
            </a:br>
            <a:r>
              <a:rPr b="1" lang="en-US" sz="1050"/>
              <a:t>JOIN RoomGuests </a:t>
            </a:r>
            <a:br>
              <a:rPr b="1" lang="en-US" sz="1050"/>
            </a:br>
            <a:r>
              <a:rPr b="1" lang="en-US" sz="1050"/>
              <a:t>ON RoomGuests.reservation_id = Reservations.id</a:t>
            </a:r>
            <a:br>
              <a:rPr b="1" lang="en-US" sz="1050"/>
            </a:br>
            <a:r>
              <a:rPr b="1" lang="en-US" sz="1050"/>
              <a:t>JOIN Guests </a:t>
            </a:r>
            <a:br>
              <a:rPr b="1" lang="en-US" sz="1050"/>
            </a:br>
            <a:r>
              <a:rPr b="1" lang="en-US" sz="1050"/>
              <a:t>ON Guests.id = RoomGuests.guest_id </a:t>
            </a:r>
            <a:br>
              <a:rPr b="1" lang="en-US" sz="1050"/>
            </a:br>
            <a:r>
              <a:rPr b="1" lang="en-US" sz="1050"/>
              <a:t>WHERE start_date &lt;= '2020-05-04' AND end_date &gt;= '2020-05-04'</a:t>
            </a:r>
            <a:br>
              <a:rPr b="1" lang="en-US" sz="1050"/>
            </a:br>
            <a:r>
              <a:rPr b="1" lang="en-US" sz="1050"/>
              <a:t>ORDER BY id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50"/>
            </a:br>
            <a:endParaRPr sz="10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lang="en-US" sz="1000"/>
            </a:br>
            <a:br>
              <a:rPr b="1" lang="en-US" sz="1050"/>
            </a:br>
            <a:br>
              <a:rPr b="1" lang="en-US" sz="1050"/>
            </a:b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 sz="1050"/>
          </a:p>
        </p:txBody>
      </p:sp>
      <p:sp>
        <p:nvSpPr>
          <p:cNvPr id="133" name="Google Shape;133;p13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4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>
            <p:ph type="ctrTitle"/>
          </p:nvPr>
        </p:nvSpPr>
        <p:spPr>
          <a:xfrm>
            <a:off x="685800" y="0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Съединения</a:t>
            </a:r>
            <a:endParaRPr/>
          </a:p>
        </p:txBody>
      </p:sp>
      <p:sp>
        <p:nvSpPr>
          <p:cNvPr id="139" name="Google Shape;139;p14"/>
          <p:cNvSpPr txBox="1"/>
          <p:nvPr>
            <p:ph idx="1" type="subTitle"/>
          </p:nvPr>
        </p:nvSpPr>
        <p:spPr>
          <a:xfrm>
            <a:off x="303027" y="695250"/>
            <a:ext cx="7772400" cy="34282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50"/>
            </a:br>
            <a:br>
              <a:rPr b="1" lang="en-US" sz="1000"/>
            </a:br>
            <a:r>
              <a:rPr b="1" i="1" lang="en-US" sz="1050"/>
              <a:t>3)</a:t>
            </a:r>
            <a:br>
              <a:rPr b="1" lang="en-US" sz="1050"/>
            </a:br>
            <a:r>
              <a:rPr b="1" lang="en-US" sz="1050"/>
              <a:t>SELECT room_number, placement,cost FROM Rooms</a:t>
            </a:r>
            <a:br>
              <a:rPr b="1" lang="en-US" sz="1050"/>
            </a:br>
            <a:r>
              <a:rPr b="1" lang="en-US" sz="1050"/>
              <a:t>JOIN RoomTypes </a:t>
            </a:r>
            <a:br>
              <a:rPr b="1" lang="en-US" sz="1050"/>
            </a:br>
            <a:r>
              <a:rPr b="1" lang="en-US" sz="1050"/>
              <a:t>ON room_type_id = RoomTypes.id</a:t>
            </a:r>
            <a:br>
              <a:rPr b="1" lang="en-US" sz="1050"/>
            </a:br>
            <a:r>
              <a:rPr b="1" lang="en-US" sz="1050"/>
              <a:t>WHERE cost &lt;= 20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 b="1"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</a:t>
            </a:r>
            <a:r>
              <a:rPr b="1" i="1" lang="en-US" sz="1050"/>
              <a:t>4)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i="1" lang="en-US" sz="1050"/>
              <a:t>	SELECT DISTINCT Reservations.id,guest_id,room_id,price_paid,Packages.type, start_date,end_date</a:t>
            </a:r>
            <a:endParaRPr b="1" i="1"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i="1" lang="en-US" sz="1050"/>
              <a:t>	FROM Reservations </a:t>
            </a:r>
            <a:endParaRPr sz="105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1" lang="en-US" sz="1050"/>
              <a:t>JOIN PackageSummaries ON package_summaries_id = PackageSummaries.id</a:t>
            </a:r>
            <a:endParaRPr sz="105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1" lang="en-US" sz="1050"/>
              <a:t>JOIN RoomTypes </a:t>
            </a:r>
            <a:endParaRPr sz="105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1" lang="en-US" sz="1050"/>
              <a:t>ON RoomTypes.id = PackageSummaries.room_type_id</a:t>
            </a:r>
            <a:endParaRPr sz="105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1" lang="en-US" sz="1050"/>
              <a:t>JOIN Rooms </a:t>
            </a:r>
            <a:endParaRPr sz="105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1" lang="en-US" sz="1050"/>
              <a:t>ON Rooms.room_type_id = RoomTypes.id</a:t>
            </a:r>
            <a:endParaRPr sz="105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1" lang="en-US" sz="1050"/>
              <a:t>JOIN Packages </a:t>
            </a:r>
            <a:endParaRPr sz="105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1" lang="en-US" sz="1050"/>
              <a:t>ON package_id = Packages.id</a:t>
            </a:r>
            <a:endParaRPr sz="105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1" lang="en-US" sz="1050"/>
              <a:t>WHERE RoomTypes.type = 'Double'</a:t>
            </a:r>
            <a:endParaRPr sz="105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1" lang="en-US" sz="1050"/>
              <a:t>AND (Packages.type = 'All Inclusive' </a:t>
            </a:r>
            <a:endParaRPr sz="105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1" lang="en-US" sz="1050"/>
              <a:t>OR Packages.type = 'Ultra All Inclusive')</a:t>
            </a:r>
            <a:endParaRPr sz="1050"/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i="1" lang="en-US" sz="1050"/>
              <a:t>ORDER BY Reservations.id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lang="en-US" sz="1050"/>
            </a:br>
            <a:endParaRPr b="1"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</a:t>
            </a:r>
            <a:br>
              <a:rPr lang="en-US" sz="1050"/>
            </a:br>
            <a:br>
              <a:rPr b="1" lang="en-US" sz="1050"/>
            </a:br>
            <a:endParaRPr sz="10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lang="en-US" sz="1000"/>
            </a:br>
            <a:br>
              <a:rPr b="1" lang="en-US" sz="1050"/>
            </a:br>
            <a:br>
              <a:rPr b="1" lang="en-US" sz="1050"/>
            </a:b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 sz="1050"/>
          </a:p>
        </p:txBody>
      </p:sp>
      <p:sp>
        <p:nvSpPr>
          <p:cNvPr id="140" name="Google Shape;140;p14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4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ctrTitle"/>
          </p:nvPr>
        </p:nvSpPr>
        <p:spPr>
          <a:xfrm>
            <a:off x="685800" y="0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Съединения</a:t>
            </a:r>
            <a:endParaRPr/>
          </a:p>
        </p:txBody>
      </p:sp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303027" y="695250"/>
            <a:ext cx="7772400" cy="34282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b="1" lang="en-US" sz="1050"/>
            </a:br>
            <a:endParaRPr b="1"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i="1" lang="en-US" sz="1050"/>
              <a:t>	5)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SELECT DISTINCT Guests.name FROM RoomGuests</a:t>
            </a:r>
            <a:endParaRPr b="1"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JOIN Reservations ON reservation_id = Reservations.id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</a:t>
            </a:r>
            <a:r>
              <a:rPr b="1" lang="en-US" sz="1000"/>
              <a:t>JOIN PackageSummaries ON package_summaries_id = PackageSummaries.id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00"/>
              <a:t>	JOIN Guests ON RoomGuests.guest_id = Guests.id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00"/>
              <a:t>	JOIN PackageAmenities ON PackageSummaries.package_id = PackageAmenities.package_id</a:t>
            </a:r>
            <a:endParaRPr b="1" sz="10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00"/>
              <a:t>	JOIN Amenities ON Amenities.id = PackageAmenities.amenity_id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00"/>
              <a:t>	WHERE Amenities.name = 'Spa procedures'</a:t>
            </a:r>
            <a:br>
              <a:rPr lang="en-US" sz="2250"/>
            </a:br>
            <a:br>
              <a:rPr b="1" lang="en-US" sz="2250"/>
            </a:br>
            <a:endParaRPr sz="22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lang="en-US" sz="1000"/>
            </a:br>
            <a:br>
              <a:rPr b="1" lang="en-US" sz="1050"/>
            </a:br>
            <a:br>
              <a:rPr b="1" lang="en-US" sz="1050"/>
            </a:b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 sz="1050"/>
          </a:p>
        </p:txBody>
      </p:sp>
      <p:sp>
        <p:nvSpPr>
          <p:cNvPr id="147" name="Google Shape;147;p15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4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ctrTitle"/>
          </p:nvPr>
        </p:nvSpPr>
        <p:spPr>
          <a:xfrm>
            <a:off x="685800" y="25800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Групиране и агрегация</a:t>
            </a:r>
            <a:endParaRPr/>
          </a:p>
        </p:txBody>
      </p:sp>
      <p:sp>
        <p:nvSpPr>
          <p:cNvPr id="153" name="Google Shape;153;p16"/>
          <p:cNvSpPr txBox="1"/>
          <p:nvPr>
            <p:ph idx="1" type="subTitle"/>
          </p:nvPr>
        </p:nvSpPr>
        <p:spPr>
          <a:xfrm>
            <a:off x="371775" y="1185600"/>
            <a:ext cx="7772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</a:t>
            </a:r>
            <a:r>
              <a:rPr b="1" i="1" lang="en-US" sz="1050"/>
              <a:t>1)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SELECT COUNT(id) as number_of_guests,room_id</a:t>
            </a:r>
            <a:br>
              <a:rPr b="1" lang="en-US" sz="1050"/>
            </a:br>
            <a:r>
              <a:rPr b="1" lang="en-US" sz="1050"/>
              <a:t>FROM Reservations</a:t>
            </a:r>
            <a:br>
              <a:rPr b="1" lang="en-US" sz="1050"/>
            </a:br>
            <a:r>
              <a:rPr b="1" lang="en-US" sz="1050"/>
              <a:t>GROUP BY room_id</a:t>
            </a:r>
            <a:br>
              <a:rPr b="1" lang="en-US" sz="1050"/>
            </a:br>
            <a:br>
              <a:rPr b="1" lang="en-US" sz="1050"/>
            </a:br>
            <a:r>
              <a:rPr b="1" i="1" lang="en-US" sz="1050"/>
              <a:t>2)</a:t>
            </a:r>
            <a:br>
              <a:rPr b="1" lang="en-US" sz="1050"/>
            </a:br>
            <a:r>
              <a:rPr b="1" lang="en-US" sz="1050"/>
              <a:t>SELECT COUNT(DISTINCT Guests.id) as number_of_guests, package_id</a:t>
            </a:r>
            <a:br>
              <a:rPr b="1" lang="en-US" sz="1050"/>
            </a:br>
            <a:r>
              <a:rPr b="1" lang="en-US" sz="1050"/>
              <a:t>FROM</a:t>
            </a:r>
            <a:br>
              <a:rPr b="1" lang="en-US" sz="1050"/>
            </a:br>
            <a:r>
              <a:rPr b="1" lang="en-US" sz="1050"/>
              <a:t>Guests</a:t>
            </a:r>
            <a:br>
              <a:rPr b="1" lang="en-US" sz="1050"/>
            </a:br>
            <a:r>
              <a:rPr b="1" lang="en-US" sz="1050"/>
              <a:t>JOIN RoomGuests on guests.id=roomguests.guest_id</a:t>
            </a:r>
            <a:br>
              <a:rPr b="1" lang="en-US" sz="1050"/>
            </a:br>
            <a:r>
              <a:rPr b="1" lang="en-US" sz="1050"/>
              <a:t>JOIN Reservations on RoomGuests.reservation_id=Reservations.id</a:t>
            </a:r>
            <a:br>
              <a:rPr b="1" lang="en-US" sz="1050"/>
            </a:br>
            <a:r>
              <a:rPr b="1" lang="en-US" sz="1050"/>
              <a:t>JOIN PackageSummaries on Reservations.package_summaries_id= PackageSummaries.id</a:t>
            </a:r>
            <a:br>
              <a:rPr b="1" lang="en-US" sz="1050"/>
            </a:br>
            <a:r>
              <a:rPr b="1" lang="en-US" sz="1050"/>
              <a:t>GROUP BY package_id</a:t>
            </a:r>
            <a:br>
              <a:rPr b="1" lang="en-US" sz="1050"/>
            </a:br>
            <a:br>
              <a:rPr b="1" lang="en-US" sz="1050"/>
            </a:br>
            <a:r>
              <a:rPr b="1" i="1" lang="en-US" sz="1050"/>
              <a:t>3)</a:t>
            </a:r>
            <a:br>
              <a:rPr b="1" lang="en-US" sz="1050"/>
            </a:br>
            <a:r>
              <a:rPr b="1" lang="en-US" sz="1050"/>
              <a:t>SELECT AVG(Reservations.price_paid) as  average_price, package_id</a:t>
            </a:r>
            <a:br>
              <a:rPr b="1" lang="en-US" sz="1050"/>
            </a:br>
            <a:r>
              <a:rPr b="1" lang="en-US" sz="1050"/>
              <a:t>FROM</a:t>
            </a:r>
            <a:br>
              <a:rPr b="1" lang="en-US" sz="1050"/>
            </a:br>
            <a:r>
              <a:rPr b="1" lang="en-US" sz="1050"/>
              <a:t>Reservations </a:t>
            </a:r>
            <a:br>
              <a:rPr b="1" lang="en-US" sz="1050"/>
            </a:br>
            <a:r>
              <a:rPr b="1" lang="en-US" sz="1050"/>
              <a:t>JOIN PackageSummaries on Reservations.package_summaries_id= PackageSummaries.id</a:t>
            </a:r>
            <a:br>
              <a:rPr b="1" lang="en-US" sz="1050"/>
            </a:br>
            <a:r>
              <a:rPr b="1" lang="en-US" sz="1050"/>
              <a:t>GROUP BY package_id</a:t>
            </a:r>
            <a:br>
              <a:rPr b="1" lang="en-US" sz="1050"/>
            </a:br>
            <a:endParaRPr sz="1050"/>
          </a:p>
        </p:txBody>
      </p:sp>
      <p:sp>
        <p:nvSpPr>
          <p:cNvPr id="154" name="Google Shape;154;p16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5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ctrTitle"/>
          </p:nvPr>
        </p:nvSpPr>
        <p:spPr>
          <a:xfrm>
            <a:off x="685800" y="25800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Групиране и агрегация</a:t>
            </a:r>
            <a:endParaRPr/>
          </a:p>
        </p:txBody>
      </p:sp>
      <p:sp>
        <p:nvSpPr>
          <p:cNvPr id="160" name="Google Shape;160;p17"/>
          <p:cNvSpPr txBox="1"/>
          <p:nvPr>
            <p:ph idx="1" type="subTitle"/>
          </p:nvPr>
        </p:nvSpPr>
        <p:spPr>
          <a:xfrm>
            <a:off x="371775" y="1185600"/>
            <a:ext cx="7772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</a:t>
            </a:r>
            <a:r>
              <a:rPr b="1" i="1" lang="en-US" sz="1050"/>
              <a:t>4)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SELECT MAX(price_paid) as price, package_id</a:t>
            </a:r>
            <a:br>
              <a:rPr b="1" lang="en-US" sz="1050"/>
            </a:br>
            <a:r>
              <a:rPr b="1" lang="en-US" sz="1050"/>
              <a:t>FROM RESERVATIONS</a:t>
            </a:r>
            <a:br>
              <a:rPr b="1" lang="en-US" sz="1050"/>
            </a:br>
            <a:r>
              <a:rPr b="1" lang="en-US" sz="1050"/>
              <a:t>JOIN PackageSummaries on reservations.package_summaries_id=PackageSummaries.id</a:t>
            </a:r>
            <a:br>
              <a:rPr b="1" lang="en-US" sz="1050"/>
            </a:br>
            <a:r>
              <a:rPr b="1" lang="en-US" sz="1050"/>
              <a:t>GROUP BY package_id</a:t>
            </a:r>
            <a:br>
              <a:rPr b="1" lang="en-US" sz="1050"/>
            </a:br>
            <a:br>
              <a:rPr b="1" lang="en-US" sz="1050"/>
            </a:br>
            <a:r>
              <a:rPr b="1" i="1" lang="en-US" sz="1050"/>
              <a:t>5)</a:t>
            </a:r>
            <a:br>
              <a:rPr b="1" lang="en-US" sz="1050"/>
            </a:br>
            <a:r>
              <a:rPr b="1" lang="en-US" sz="1050"/>
              <a:t>SELECT COUNT(amenity_id) as number_of_amenities, package_id</a:t>
            </a:r>
            <a:br>
              <a:rPr b="1" lang="en-US" sz="1050"/>
            </a:br>
            <a:r>
              <a:rPr b="1" lang="en-US" sz="1050"/>
              <a:t>FROM PackageAmenities</a:t>
            </a:r>
            <a:br>
              <a:rPr b="1" lang="en-US" sz="1050"/>
            </a:br>
            <a:r>
              <a:rPr b="1" lang="en-US" sz="1050"/>
              <a:t>GROUP BY package_id</a:t>
            </a:r>
            <a:br>
              <a:rPr b="1" lang="en-US" sz="1050"/>
            </a:br>
            <a:br>
              <a:rPr b="1" lang="en-US" sz="1050"/>
            </a:br>
            <a:r>
              <a:rPr b="1" i="1" lang="en-US" sz="1050"/>
              <a:t>6)</a:t>
            </a:r>
            <a:br>
              <a:rPr b="1" lang="en-US" sz="1050"/>
            </a:br>
            <a:r>
              <a:rPr b="1" lang="en-US" sz="1050"/>
              <a:t>SELECT SUM(price_paid) AS total_income</a:t>
            </a:r>
            <a:br>
              <a:rPr b="1" lang="en-US" sz="1050"/>
            </a:br>
            <a:r>
              <a:rPr b="1" lang="en-US" sz="1050"/>
              <a:t>FROM Reservations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i="1" lang="en-US" sz="1050"/>
              <a:t>	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i="1" lang="en-US" sz="1050"/>
              <a:t>	7)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i="1" lang="en-US" sz="1050"/>
              <a:t>	</a:t>
            </a:r>
            <a:r>
              <a:rPr b="1" lang="en-US" sz="1050"/>
              <a:t>SELECT SUM(price_paid) AS turnover 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FROM Reservations</a:t>
            </a:r>
            <a:br>
              <a:rPr b="1" lang="en-US" sz="1050"/>
            </a:br>
            <a:r>
              <a:rPr b="1" lang="en-US" sz="1050"/>
              <a:t>WHERE start_date &gt;= '2020-01-01'</a:t>
            </a:r>
            <a:br>
              <a:rPr b="1" lang="en-US" sz="1050"/>
            </a:br>
            <a:r>
              <a:rPr b="1" lang="en-US" sz="1050"/>
              <a:t>AND </a:t>
            </a:r>
            <a:br>
              <a:rPr b="1" lang="en-US" sz="1050"/>
            </a:br>
            <a:r>
              <a:rPr b="1" lang="en-US" sz="1050"/>
              <a:t>end_date &lt;= '2020-06-01'</a:t>
            </a:r>
            <a:endParaRPr b="1" i="1"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</a:t>
            </a:r>
            <a:endParaRPr sz="1050"/>
          </a:p>
        </p:txBody>
      </p:sp>
      <p:sp>
        <p:nvSpPr>
          <p:cNvPr id="161" name="Google Shape;161;p17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5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"/>
          <p:cNvSpPr txBox="1"/>
          <p:nvPr>
            <p:ph type="ctrTitle"/>
          </p:nvPr>
        </p:nvSpPr>
        <p:spPr>
          <a:xfrm>
            <a:off x="685800" y="25800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Групиране и агрегация</a:t>
            </a:r>
            <a:endParaRPr/>
          </a:p>
        </p:txBody>
      </p:sp>
      <p:sp>
        <p:nvSpPr>
          <p:cNvPr id="167" name="Google Shape;167;p18"/>
          <p:cNvSpPr txBox="1"/>
          <p:nvPr>
            <p:ph idx="1" type="subTitle"/>
          </p:nvPr>
        </p:nvSpPr>
        <p:spPr>
          <a:xfrm>
            <a:off x="371775" y="1185600"/>
            <a:ext cx="7772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</a:t>
            </a:r>
            <a:r>
              <a:rPr b="1" i="1" lang="en-US" sz="1050"/>
              <a:t>8)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SELECT COUNT (DISTINCT id) as number_of_guests </a:t>
            </a:r>
            <a:endParaRPr b="1"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FROM Guests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WHERE id NOT IN 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(SELECT DISTINCT Guests.id FROM Guests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JOIN Reservations on Guests.id= Reservations.guest_id)</a:t>
            </a: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lang="en-US" sz="1050"/>
            </a:br>
            <a:endParaRPr sz="105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	</a:t>
            </a:r>
            <a:endParaRPr sz="1050"/>
          </a:p>
        </p:txBody>
      </p:sp>
      <p:sp>
        <p:nvSpPr>
          <p:cNvPr id="168" name="Google Shape;168;p18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5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ctrTitle"/>
          </p:nvPr>
        </p:nvSpPr>
        <p:spPr>
          <a:xfrm>
            <a:off x="681094" y="28353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Изгледи и индекси</a:t>
            </a:r>
            <a:endParaRPr/>
          </a:p>
        </p:txBody>
      </p:sp>
      <p:sp>
        <p:nvSpPr>
          <p:cNvPr id="174" name="Google Shape;174;p19"/>
          <p:cNvSpPr txBox="1"/>
          <p:nvPr>
            <p:ph idx="1" type="subTitle"/>
          </p:nvPr>
        </p:nvSpPr>
        <p:spPr>
          <a:xfrm>
            <a:off x="360010" y="919134"/>
            <a:ext cx="7772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00"/>
              <a:t>	</a:t>
            </a:r>
            <a:r>
              <a:rPr b="1" i="1" lang="en-US" sz="1000"/>
              <a:t>1)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00"/>
              <a:t>	CREATE  VIEW  GuestInfo </a:t>
            </a:r>
            <a:br>
              <a:rPr b="1" lang="en-US" sz="1000"/>
            </a:br>
            <a:r>
              <a:rPr b="1" lang="en-US" sz="1000"/>
              <a:t>AS SELECT Guests.id, name , room_id</a:t>
            </a:r>
            <a:br>
              <a:rPr b="1" lang="en-US" sz="1000"/>
            </a:br>
            <a:r>
              <a:rPr b="1" lang="en-US" sz="1000"/>
              <a:t>FROM Guests</a:t>
            </a:r>
            <a:br>
              <a:rPr b="1" lang="en-US" sz="1000"/>
            </a:br>
            <a:r>
              <a:rPr b="1" lang="en-US" sz="1000"/>
              <a:t>JOIN RoomGuests on guests.id=RoomGuests.guest_id</a:t>
            </a:r>
            <a:br>
              <a:rPr b="1" lang="en-US" sz="1000"/>
            </a:br>
            <a:r>
              <a:rPr b="1" lang="en-US" sz="1000"/>
              <a:t>JOIN Reservations on RoomGuests.reservation_id=Reservations.id</a:t>
            </a:r>
            <a:br>
              <a:rPr b="1" lang="en-US" sz="1000"/>
            </a:br>
            <a:br>
              <a:rPr b="1" lang="en-US" sz="1000"/>
            </a:br>
            <a:r>
              <a:rPr b="1" i="1" lang="en-US" sz="1000"/>
              <a:t>2)</a:t>
            </a:r>
            <a:br>
              <a:rPr b="1" lang="en-US" sz="1000"/>
            </a:br>
            <a:r>
              <a:rPr b="1" lang="en-US" sz="1000"/>
              <a:t>CREATE VIEW RoomInfo</a:t>
            </a:r>
            <a:br>
              <a:rPr b="1" lang="en-US" sz="1000"/>
            </a:br>
            <a:r>
              <a:rPr b="1" lang="en-US" sz="1000"/>
              <a:t>AS SELECT room_number,placement,type</a:t>
            </a:r>
            <a:br>
              <a:rPr b="1" lang="en-US" sz="1000"/>
            </a:br>
            <a:r>
              <a:rPr b="1" lang="en-US" sz="1000"/>
              <a:t>FROM Rooms</a:t>
            </a:r>
            <a:br>
              <a:rPr b="1" lang="en-US" sz="1000"/>
            </a:br>
            <a:r>
              <a:rPr b="1" lang="en-US" sz="1000"/>
              <a:t>JOIN RoomTypes ON room_type_id=RoomTypes.id</a:t>
            </a:r>
            <a:br>
              <a:rPr b="1" lang="en-US" sz="1000"/>
            </a:br>
            <a:br>
              <a:rPr b="1" lang="en-US" sz="1000"/>
            </a:br>
            <a:r>
              <a:rPr b="1" i="1" lang="en-US" sz="1000"/>
              <a:t>3)</a:t>
            </a:r>
            <a:br>
              <a:rPr b="1" lang="en-US" sz="1000"/>
            </a:br>
            <a:r>
              <a:rPr b="1" lang="en-US" sz="1000"/>
              <a:t>CREATE VIEW ReservationContacts</a:t>
            </a:r>
            <a:br>
              <a:rPr b="1" lang="en-US" sz="1000"/>
            </a:br>
            <a:r>
              <a:rPr b="1" lang="en-US" sz="1000"/>
              <a:t>AS SELECT Reservations.room_id, Reservations.start_date, Reservations.end_date,Guests.name,Guests.phone_num</a:t>
            </a:r>
            <a:br>
              <a:rPr b="1" lang="en-US" sz="1000"/>
            </a:br>
            <a:r>
              <a:rPr b="1" lang="en-US" sz="1000"/>
              <a:t>FROM Reservations</a:t>
            </a:r>
            <a:br>
              <a:rPr b="1" lang="en-US" sz="1000"/>
            </a:br>
            <a:r>
              <a:rPr b="1" lang="en-US" sz="1000"/>
              <a:t>JOIN Guests on Guests.id=Reservations.guest_id</a:t>
            </a:r>
            <a:endParaRPr b="1" sz="10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 b="1" sz="10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00"/>
              <a:t>	4)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00"/>
              <a:t>	CREATE INDEX booked_guest_idx ON Reservations(guest_id);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t/>
            </a:r>
            <a:endParaRPr b="1" sz="10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00"/>
              <a:t>	5)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00"/>
              <a:t>	CREATE INDEX guest_name_idx ON Guests(name);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lang="en-US"/>
            </a:b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811325" y="151734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6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>
            <p:ph type="ctrTitle"/>
          </p:nvPr>
        </p:nvSpPr>
        <p:spPr>
          <a:xfrm>
            <a:off x="685800" y="230700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Тригери</a:t>
            </a:r>
            <a:endParaRPr/>
          </a:p>
        </p:txBody>
      </p:sp>
      <p:sp>
        <p:nvSpPr>
          <p:cNvPr id="181" name="Google Shape;181;p20"/>
          <p:cNvSpPr txBox="1"/>
          <p:nvPr>
            <p:ph idx="1" type="subTitle"/>
          </p:nvPr>
        </p:nvSpPr>
        <p:spPr>
          <a:xfrm>
            <a:off x="685800" y="1300104"/>
            <a:ext cx="7772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050"/>
              <a:t>1)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CREATE TRIGGER delete_reservations_date   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ON Reservations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INSTEAD OF DELETE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AS 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BEGIN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SET NOCOUNT ON;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Update Reservations set deleted_at = GETDATE()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FROM deleted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WHERE Reservations.id = deleted.id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END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br>
              <a:rPr lang="en-US"/>
            </a:b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7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3">
            <a:alphaModFix/>
          </a:blip>
          <a:srcRect b="16748" l="0" r="0" t="8571"/>
          <a:stretch/>
        </p:blipFill>
        <p:spPr>
          <a:xfrm>
            <a:off x="820088" y="3323408"/>
            <a:ext cx="5472584" cy="663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0088" y="4017813"/>
            <a:ext cx="5472585" cy="66318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6292672" y="3710036"/>
            <a:ext cx="126166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292671" y="4405202"/>
            <a:ext cx="126166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type="ctrTitle"/>
          </p:nvPr>
        </p:nvSpPr>
        <p:spPr>
          <a:xfrm>
            <a:off x="685800" y="230700"/>
            <a:ext cx="77724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/>
              <a:t>Тригери</a:t>
            </a:r>
            <a:endParaRPr/>
          </a:p>
        </p:txBody>
      </p:sp>
      <p:sp>
        <p:nvSpPr>
          <p:cNvPr id="192" name="Google Shape;192;p21"/>
          <p:cNvSpPr txBox="1"/>
          <p:nvPr>
            <p:ph idx="1" type="subTitle"/>
          </p:nvPr>
        </p:nvSpPr>
        <p:spPr>
          <a:xfrm>
            <a:off x="685800" y="1300104"/>
            <a:ext cx="77724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 sz="1050"/>
              <a:t>2)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CREATE TRIGGER update_guests_date  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ON Guests  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AFTER UPDATE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AS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BEGIN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SET NOCOUNT ON;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Update Guests set updated_at = GETDATE()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FROM inserted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WHERE Guests.id = inserted.id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</a:pPr>
            <a:r>
              <a:rPr b="1" lang="en-US" sz="1050"/>
              <a:t>END</a:t>
            </a:r>
            <a:br>
              <a:rPr lang="en-US" sz="1050"/>
            </a:br>
            <a:br>
              <a:rPr lang="en-US"/>
            </a:b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7811325" y="0"/>
            <a:ext cx="960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434343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7</a:t>
            </a:r>
            <a:endParaRPr b="0" i="0" sz="9600" u="none" cap="none" strike="noStrike">
              <a:solidFill>
                <a:srgbClr val="434343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6671637" y="3642604"/>
            <a:ext cx="126166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before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684338" y="4414669"/>
            <a:ext cx="126166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after</a:t>
            </a:r>
            <a:endParaRPr/>
          </a:p>
        </p:txBody>
      </p:sp>
      <p:pic>
        <p:nvPicPr>
          <p:cNvPr id="196" name="Google Shape;1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037" y="3192492"/>
            <a:ext cx="5829600" cy="730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4949" y="3957469"/>
            <a:ext cx="5855001" cy="730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idx="4294967295" type="ctrTitle"/>
          </p:nvPr>
        </p:nvSpPr>
        <p:spPr>
          <a:xfrm>
            <a:off x="685800" y="1507150"/>
            <a:ext cx="8032898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5800"/>
              <a:buFont typeface="Raleway ExtraBold"/>
              <a:buNone/>
            </a:pPr>
            <a:r>
              <a:rPr b="0" i="0" lang="en-US" sz="9600" u="none" cap="none" strike="noStrike">
                <a:solidFill>
                  <a:srgbClr val="FFB600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Благодарим!</a:t>
            </a:r>
            <a:endParaRPr b="0" i="0" sz="9600" u="none" cap="none" strike="noStrike">
              <a:solidFill>
                <a:srgbClr val="FFB600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</p:txBody>
      </p:sp>
      <p:sp>
        <p:nvSpPr>
          <p:cNvPr id="203" name="Google Shape;203;p22"/>
          <p:cNvSpPr txBox="1"/>
          <p:nvPr>
            <p:ph idx="4294967295" type="subTitle"/>
          </p:nvPr>
        </p:nvSpPr>
        <p:spPr>
          <a:xfrm>
            <a:off x="685800" y="2860000"/>
            <a:ext cx="6593700" cy="19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B600"/>
              </a:buClr>
              <a:buSzPts val="1800"/>
              <a:buFont typeface="Raleway Light"/>
              <a:buNone/>
            </a:pPr>
            <a:r>
              <a:rPr b="1" i="0" lang="en-US" sz="3600" u="none" cap="none" strike="noStrike">
                <a:solidFill>
                  <a:srgbClr val="666666"/>
                </a:solidFill>
                <a:latin typeface="Raleway Light"/>
                <a:ea typeface="Raleway Light"/>
                <a:cs typeface="Raleway Light"/>
                <a:sym typeface="Raleway Light"/>
              </a:rPr>
              <a:t>Въпроси?</a:t>
            </a:r>
            <a:endParaRPr b="1" i="0" sz="3600" u="none" cap="none" strike="noStrike">
              <a:solidFill>
                <a:srgbClr val="666666"/>
              </a:solidFill>
              <a:latin typeface="Raleway Light"/>
              <a:ea typeface="Raleway Light"/>
              <a:cs typeface="Raleway Light"/>
              <a:sym typeface="Raleway Ligh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8054234" y="327815"/>
            <a:ext cx="798007" cy="725835"/>
          </a:xfrm>
          <a:custGeom>
            <a:rect b="b" l="l" r="r" t="t"/>
            <a:pathLst>
              <a:path extrusionOk="0" h="14752" w="16218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FFB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6650029" y="3604617"/>
            <a:ext cx="2295497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Изготвили: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Александър Найденов, 62251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Иван Спасов, 62303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Калина Каменова, 62313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Кристина Йотова, 62247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Павел Петков, 62302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8201247" y="302777"/>
            <a:ext cx="402194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1" i="0" sz="4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/>
          <p:nvPr>
            <p:ph type="title"/>
          </p:nvPr>
        </p:nvSpPr>
        <p:spPr>
          <a:xfrm>
            <a:off x="851117" y="445829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n-US" sz="3600"/>
              <a:t>Таблица </a:t>
            </a:r>
            <a:r>
              <a:rPr lang="en-US" sz="3600">
                <a:solidFill>
                  <a:srgbClr val="FFB600"/>
                </a:solidFill>
              </a:rPr>
              <a:t>Guests</a:t>
            </a:r>
            <a:r>
              <a:rPr lang="en-US" sz="3600"/>
              <a:t> </a:t>
            </a:r>
            <a:endParaRPr sz="3600"/>
          </a:p>
        </p:txBody>
      </p:sp>
      <p:grpSp>
        <p:nvGrpSpPr>
          <p:cNvPr id="212" name="Google Shape;212;p23"/>
          <p:cNvGrpSpPr/>
          <p:nvPr/>
        </p:nvGrpSpPr>
        <p:grpSpPr>
          <a:xfrm>
            <a:off x="8089119" y="319162"/>
            <a:ext cx="728350" cy="743348"/>
            <a:chOff x="3955900" y="2984500"/>
            <a:chExt cx="414000" cy="422525"/>
          </a:xfrm>
        </p:grpSpPr>
        <p:sp>
          <p:nvSpPr>
            <p:cNvPr id="213" name="Google Shape;213;p23"/>
            <p:cNvSpPr/>
            <p:nvPr/>
          </p:nvSpPr>
          <p:spPr>
            <a:xfrm>
              <a:off x="3955900" y="2984500"/>
              <a:ext cx="315700" cy="315675"/>
            </a:xfrm>
            <a:custGeom>
              <a:rect b="b" l="l" r="r" t="t"/>
              <a:pathLst>
                <a:path extrusionOk="0" h="12627" w="12628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23"/>
            <p:cNvSpPr/>
            <p:nvPr/>
          </p:nvSpPr>
          <p:spPr>
            <a:xfrm>
              <a:off x="3992525" y="3021125"/>
              <a:ext cx="242425" cy="242425"/>
            </a:xfrm>
            <a:custGeom>
              <a:rect b="b" l="l" r="r" t="t"/>
              <a:pathLst>
                <a:path extrusionOk="0" h="9697" w="9697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3"/>
            <p:cNvSpPr/>
            <p:nvPr/>
          </p:nvSpPr>
          <p:spPr>
            <a:xfrm>
              <a:off x="4215400" y="3253150"/>
              <a:ext cx="154500" cy="153875"/>
            </a:xfrm>
            <a:custGeom>
              <a:rect b="b" l="l" r="r" t="t"/>
              <a:pathLst>
                <a:path extrusionOk="0" h="6155" w="618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6" name="Google Shape;2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4703" y="1216218"/>
            <a:ext cx="6574593" cy="3192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>
            <a:hlinkClick action="ppaction://hlinksldjump" r:id="rId4"/>
          </p:cNvPr>
          <p:cNvSpPr/>
          <p:nvPr/>
        </p:nvSpPr>
        <p:spPr>
          <a:xfrm>
            <a:off x="8706605" y="4727944"/>
            <a:ext cx="321896" cy="34024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C000"/>
          </a:solidFill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"/>
          <p:cNvSpPr txBox="1"/>
          <p:nvPr>
            <p:ph type="title"/>
          </p:nvPr>
        </p:nvSpPr>
        <p:spPr>
          <a:xfrm>
            <a:off x="851117" y="445829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n-US" sz="3600"/>
              <a:t>Таблица </a:t>
            </a:r>
            <a:r>
              <a:rPr lang="en-US" sz="3600">
                <a:solidFill>
                  <a:srgbClr val="FFB600"/>
                </a:solidFill>
              </a:rPr>
              <a:t>Amenities</a:t>
            </a:r>
            <a:r>
              <a:rPr lang="en-US" sz="3600"/>
              <a:t> </a:t>
            </a:r>
            <a:endParaRPr sz="3600"/>
          </a:p>
        </p:txBody>
      </p:sp>
      <p:grpSp>
        <p:nvGrpSpPr>
          <p:cNvPr id="223" name="Google Shape;223;p24"/>
          <p:cNvGrpSpPr/>
          <p:nvPr/>
        </p:nvGrpSpPr>
        <p:grpSpPr>
          <a:xfrm>
            <a:off x="8089119" y="319162"/>
            <a:ext cx="728350" cy="743348"/>
            <a:chOff x="3955900" y="2984500"/>
            <a:chExt cx="414000" cy="422525"/>
          </a:xfrm>
        </p:grpSpPr>
        <p:sp>
          <p:nvSpPr>
            <p:cNvPr id="224" name="Google Shape;224;p24"/>
            <p:cNvSpPr/>
            <p:nvPr/>
          </p:nvSpPr>
          <p:spPr>
            <a:xfrm>
              <a:off x="3955900" y="2984500"/>
              <a:ext cx="315700" cy="315675"/>
            </a:xfrm>
            <a:custGeom>
              <a:rect b="b" l="l" r="r" t="t"/>
              <a:pathLst>
                <a:path extrusionOk="0" h="12627" w="12628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4"/>
            <p:cNvSpPr/>
            <p:nvPr/>
          </p:nvSpPr>
          <p:spPr>
            <a:xfrm>
              <a:off x="3992525" y="3021125"/>
              <a:ext cx="242425" cy="242425"/>
            </a:xfrm>
            <a:custGeom>
              <a:rect b="b" l="l" r="r" t="t"/>
              <a:pathLst>
                <a:path extrusionOk="0" h="9697" w="9697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4"/>
            <p:cNvSpPr/>
            <p:nvPr/>
          </p:nvSpPr>
          <p:spPr>
            <a:xfrm>
              <a:off x="4215400" y="3253150"/>
              <a:ext cx="154500" cy="153875"/>
            </a:xfrm>
            <a:custGeom>
              <a:rect b="b" l="l" r="r" t="t"/>
              <a:pathLst>
                <a:path extrusionOk="0" h="6155" w="618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6646" y="1303229"/>
            <a:ext cx="5550707" cy="2770493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>
            <a:hlinkClick action="ppaction://hlinksldjump" r:id="rId4"/>
          </p:cNvPr>
          <p:cNvSpPr/>
          <p:nvPr/>
        </p:nvSpPr>
        <p:spPr>
          <a:xfrm>
            <a:off x="8706605" y="4749208"/>
            <a:ext cx="321896" cy="34024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C000"/>
          </a:solidFill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type="title"/>
          </p:nvPr>
        </p:nvSpPr>
        <p:spPr>
          <a:xfrm>
            <a:off x="851117" y="445829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n-US" sz="3600"/>
              <a:t>Таблица </a:t>
            </a:r>
            <a:r>
              <a:rPr lang="en-US" sz="3600">
                <a:solidFill>
                  <a:srgbClr val="FFB600"/>
                </a:solidFill>
              </a:rPr>
              <a:t>PackageAmenities</a:t>
            </a:r>
            <a:r>
              <a:rPr lang="en-US" sz="3600"/>
              <a:t> </a:t>
            </a:r>
            <a:endParaRPr sz="3600"/>
          </a:p>
        </p:txBody>
      </p:sp>
      <p:grpSp>
        <p:nvGrpSpPr>
          <p:cNvPr id="234" name="Google Shape;234;p25"/>
          <p:cNvGrpSpPr/>
          <p:nvPr/>
        </p:nvGrpSpPr>
        <p:grpSpPr>
          <a:xfrm>
            <a:off x="8089119" y="319162"/>
            <a:ext cx="728350" cy="743348"/>
            <a:chOff x="3955900" y="2984500"/>
            <a:chExt cx="414000" cy="422525"/>
          </a:xfrm>
        </p:grpSpPr>
        <p:sp>
          <p:nvSpPr>
            <p:cNvPr id="235" name="Google Shape;235;p25"/>
            <p:cNvSpPr/>
            <p:nvPr/>
          </p:nvSpPr>
          <p:spPr>
            <a:xfrm>
              <a:off x="3955900" y="2984500"/>
              <a:ext cx="315700" cy="315675"/>
            </a:xfrm>
            <a:custGeom>
              <a:rect b="b" l="l" r="r" t="t"/>
              <a:pathLst>
                <a:path extrusionOk="0" h="12627" w="12628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25"/>
            <p:cNvSpPr/>
            <p:nvPr/>
          </p:nvSpPr>
          <p:spPr>
            <a:xfrm>
              <a:off x="3992525" y="3021125"/>
              <a:ext cx="242425" cy="242425"/>
            </a:xfrm>
            <a:custGeom>
              <a:rect b="b" l="l" r="r" t="t"/>
              <a:pathLst>
                <a:path extrusionOk="0" h="9697" w="9697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25"/>
            <p:cNvSpPr/>
            <p:nvPr/>
          </p:nvSpPr>
          <p:spPr>
            <a:xfrm>
              <a:off x="4215400" y="3253150"/>
              <a:ext cx="154500" cy="153875"/>
            </a:xfrm>
            <a:custGeom>
              <a:rect b="b" l="l" r="r" t="t"/>
              <a:pathLst>
                <a:path extrusionOk="0" h="6155" w="618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8" name="Google Shape;23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8260" y="1150637"/>
            <a:ext cx="3447480" cy="346534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>
            <a:hlinkClick action="ppaction://hlinksldjump" r:id="rId4"/>
          </p:cNvPr>
          <p:cNvSpPr/>
          <p:nvPr/>
        </p:nvSpPr>
        <p:spPr>
          <a:xfrm>
            <a:off x="8706605" y="4735032"/>
            <a:ext cx="321896" cy="34024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C000"/>
          </a:solidFill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6"/>
          <p:cNvSpPr txBox="1"/>
          <p:nvPr>
            <p:ph type="title"/>
          </p:nvPr>
        </p:nvSpPr>
        <p:spPr>
          <a:xfrm>
            <a:off x="851117" y="445829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n-US" sz="3600"/>
              <a:t>Таблица </a:t>
            </a:r>
            <a:r>
              <a:rPr lang="en-US" sz="3600">
                <a:solidFill>
                  <a:srgbClr val="FFB600"/>
                </a:solidFill>
              </a:rPr>
              <a:t>Packages</a:t>
            </a:r>
            <a:r>
              <a:rPr lang="en-US" sz="3600"/>
              <a:t> </a:t>
            </a:r>
            <a:endParaRPr sz="3600"/>
          </a:p>
        </p:txBody>
      </p:sp>
      <p:grpSp>
        <p:nvGrpSpPr>
          <p:cNvPr id="245" name="Google Shape;245;p26"/>
          <p:cNvGrpSpPr/>
          <p:nvPr/>
        </p:nvGrpSpPr>
        <p:grpSpPr>
          <a:xfrm>
            <a:off x="8089119" y="319162"/>
            <a:ext cx="728350" cy="743348"/>
            <a:chOff x="3955900" y="2984500"/>
            <a:chExt cx="414000" cy="422525"/>
          </a:xfrm>
        </p:grpSpPr>
        <p:sp>
          <p:nvSpPr>
            <p:cNvPr id="246" name="Google Shape;246;p26"/>
            <p:cNvSpPr/>
            <p:nvPr/>
          </p:nvSpPr>
          <p:spPr>
            <a:xfrm>
              <a:off x="3955900" y="2984500"/>
              <a:ext cx="315700" cy="315675"/>
            </a:xfrm>
            <a:custGeom>
              <a:rect b="b" l="l" r="r" t="t"/>
              <a:pathLst>
                <a:path extrusionOk="0" h="12627" w="12628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6"/>
            <p:cNvSpPr/>
            <p:nvPr/>
          </p:nvSpPr>
          <p:spPr>
            <a:xfrm>
              <a:off x="3992525" y="3021125"/>
              <a:ext cx="242425" cy="242425"/>
            </a:xfrm>
            <a:custGeom>
              <a:rect b="b" l="l" r="r" t="t"/>
              <a:pathLst>
                <a:path extrusionOk="0" h="9697" w="9697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6"/>
            <p:cNvSpPr/>
            <p:nvPr/>
          </p:nvSpPr>
          <p:spPr>
            <a:xfrm>
              <a:off x="4215400" y="3253150"/>
              <a:ext cx="154500" cy="153875"/>
            </a:xfrm>
            <a:custGeom>
              <a:rect b="b" l="l" r="r" t="t"/>
              <a:pathLst>
                <a:path extrusionOk="0" h="6155" w="618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49" name="Google Shape;24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503" y="1935771"/>
            <a:ext cx="6724993" cy="143829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6">
            <a:hlinkClick action="ppaction://hlinksldjump" r:id="rId4"/>
          </p:cNvPr>
          <p:cNvSpPr/>
          <p:nvPr/>
        </p:nvSpPr>
        <p:spPr>
          <a:xfrm>
            <a:off x="8706605" y="4727944"/>
            <a:ext cx="321896" cy="34024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C000"/>
          </a:solidFill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7"/>
          <p:cNvSpPr txBox="1"/>
          <p:nvPr>
            <p:ph type="title"/>
          </p:nvPr>
        </p:nvSpPr>
        <p:spPr>
          <a:xfrm>
            <a:off x="851117" y="445829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n-US" sz="3600"/>
              <a:t>Таблица </a:t>
            </a:r>
            <a:r>
              <a:rPr lang="en-US" sz="3600">
                <a:solidFill>
                  <a:srgbClr val="FFB600"/>
                </a:solidFill>
              </a:rPr>
              <a:t>PackageSummaries</a:t>
            </a:r>
            <a:r>
              <a:rPr lang="en-US" sz="3600"/>
              <a:t> </a:t>
            </a:r>
            <a:endParaRPr sz="3600"/>
          </a:p>
        </p:txBody>
      </p:sp>
      <p:grpSp>
        <p:nvGrpSpPr>
          <p:cNvPr id="256" name="Google Shape;256;p27"/>
          <p:cNvGrpSpPr/>
          <p:nvPr/>
        </p:nvGrpSpPr>
        <p:grpSpPr>
          <a:xfrm>
            <a:off x="8089119" y="319162"/>
            <a:ext cx="728350" cy="743348"/>
            <a:chOff x="3955900" y="2984500"/>
            <a:chExt cx="414000" cy="422525"/>
          </a:xfrm>
        </p:grpSpPr>
        <p:sp>
          <p:nvSpPr>
            <p:cNvPr id="257" name="Google Shape;257;p27"/>
            <p:cNvSpPr/>
            <p:nvPr/>
          </p:nvSpPr>
          <p:spPr>
            <a:xfrm>
              <a:off x="3955900" y="2984500"/>
              <a:ext cx="315700" cy="315675"/>
            </a:xfrm>
            <a:custGeom>
              <a:rect b="b" l="l" r="r" t="t"/>
              <a:pathLst>
                <a:path extrusionOk="0" h="12627" w="12628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7"/>
            <p:cNvSpPr/>
            <p:nvPr/>
          </p:nvSpPr>
          <p:spPr>
            <a:xfrm>
              <a:off x="3992525" y="3021125"/>
              <a:ext cx="242425" cy="242425"/>
            </a:xfrm>
            <a:custGeom>
              <a:rect b="b" l="l" r="r" t="t"/>
              <a:pathLst>
                <a:path extrusionOk="0" h="9697" w="9697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7"/>
            <p:cNvSpPr/>
            <p:nvPr/>
          </p:nvSpPr>
          <p:spPr>
            <a:xfrm>
              <a:off x="4215400" y="3253150"/>
              <a:ext cx="154500" cy="153875"/>
            </a:xfrm>
            <a:custGeom>
              <a:rect b="b" l="l" r="r" t="t"/>
              <a:pathLst>
                <a:path extrusionOk="0" h="6155" w="618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0" name="Google Shape;26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5195" y="1303229"/>
            <a:ext cx="5573609" cy="2855192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7">
            <a:hlinkClick action="ppaction://hlinksldjump" r:id="rId4"/>
          </p:cNvPr>
          <p:cNvSpPr/>
          <p:nvPr/>
        </p:nvSpPr>
        <p:spPr>
          <a:xfrm>
            <a:off x="8706605" y="4727944"/>
            <a:ext cx="321896" cy="34024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C000"/>
          </a:solidFill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"/>
          <p:cNvSpPr txBox="1"/>
          <p:nvPr>
            <p:ph type="title"/>
          </p:nvPr>
        </p:nvSpPr>
        <p:spPr>
          <a:xfrm>
            <a:off x="851117" y="445829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n-US" sz="3600"/>
              <a:t>Таблица </a:t>
            </a:r>
            <a:r>
              <a:rPr lang="en-US" sz="3600">
                <a:solidFill>
                  <a:srgbClr val="FFB600"/>
                </a:solidFill>
              </a:rPr>
              <a:t>Reservations</a:t>
            </a:r>
            <a:r>
              <a:rPr lang="en-US" sz="3600"/>
              <a:t> </a:t>
            </a:r>
            <a:endParaRPr sz="3600"/>
          </a:p>
        </p:txBody>
      </p:sp>
      <p:grpSp>
        <p:nvGrpSpPr>
          <p:cNvPr id="267" name="Google Shape;267;p28"/>
          <p:cNvGrpSpPr/>
          <p:nvPr/>
        </p:nvGrpSpPr>
        <p:grpSpPr>
          <a:xfrm>
            <a:off x="8089119" y="319162"/>
            <a:ext cx="728350" cy="743348"/>
            <a:chOff x="3955900" y="2984500"/>
            <a:chExt cx="414000" cy="422525"/>
          </a:xfrm>
        </p:grpSpPr>
        <p:sp>
          <p:nvSpPr>
            <p:cNvPr id="268" name="Google Shape;268;p28"/>
            <p:cNvSpPr/>
            <p:nvPr/>
          </p:nvSpPr>
          <p:spPr>
            <a:xfrm>
              <a:off x="3955900" y="2984500"/>
              <a:ext cx="315700" cy="315675"/>
            </a:xfrm>
            <a:custGeom>
              <a:rect b="b" l="l" r="r" t="t"/>
              <a:pathLst>
                <a:path extrusionOk="0" h="12627" w="12628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8"/>
            <p:cNvSpPr/>
            <p:nvPr/>
          </p:nvSpPr>
          <p:spPr>
            <a:xfrm>
              <a:off x="3992525" y="3021125"/>
              <a:ext cx="242425" cy="242425"/>
            </a:xfrm>
            <a:custGeom>
              <a:rect b="b" l="l" r="r" t="t"/>
              <a:pathLst>
                <a:path extrusionOk="0" h="9697" w="9697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4215400" y="3253150"/>
              <a:ext cx="154500" cy="153875"/>
            </a:xfrm>
            <a:custGeom>
              <a:rect b="b" l="l" r="r" t="t"/>
              <a:pathLst>
                <a:path extrusionOk="0" h="6155" w="618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1" name="Google Shape;27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9684" y="1128788"/>
            <a:ext cx="6464632" cy="356888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8">
            <a:hlinkClick action="ppaction://hlinksldjump" r:id="rId4"/>
          </p:cNvPr>
          <p:cNvSpPr/>
          <p:nvPr/>
        </p:nvSpPr>
        <p:spPr>
          <a:xfrm>
            <a:off x="8706605" y="4727944"/>
            <a:ext cx="321896" cy="34024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C000"/>
          </a:solidFill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/>
          <p:nvPr>
            <p:ph type="title"/>
          </p:nvPr>
        </p:nvSpPr>
        <p:spPr>
          <a:xfrm>
            <a:off x="851117" y="445829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n-US" sz="3600"/>
              <a:t>Таблица </a:t>
            </a:r>
            <a:r>
              <a:rPr lang="en-US" sz="3600">
                <a:solidFill>
                  <a:srgbClr val="FFB600"/>
                </a:solidFill>
              </a:rPr>
              <a:t>RoomGuests</a:t>
            </a:r>
            <a:r>
              <a:rPr lang="en-US" sz="3600"/>
              <a:t> </a:t>
            </a:r>
            <a:endParaRPr sz="3600"/>
          </a:p>
        </p:txBody>
      </p:sp>
      <p:grpSp>
        <p:nvGrpSpPr>
          <p:cNvPr id="278" name="Google Shape;278;p29"/>
          <p:cNvGrpSpPr/>
          <p:nvPr/>
        </p:nvGrpSpPr>
        <p:grpSpPr>
          <a:xfrm>
            <a:off x="8089119" y="319162"/>
            <a:ext cx="728350" cy="743348"/>
            <a:chOff x="3955900" y="2984500"/>
            <a:chExt cx="414000" cy="422525"/>
          </a:xfrm>
        </p:grpSpPr>
        <p:sp>
          <p:nvSpPr>
            <p:cNvPr id="279" name="Google Shape;279;p29"/>
            <p:cNvSpPr/>
            <p:nvPr/>
          </p:nvSpPr>
          <p:spPr>
            <a:xfrm>
              <a:off x="3955900" y="2984500"/>
              <a:ext cx="315700" cy="315675"/>
            </a:xfrm>
            <a:custGeom>
              <a:rect b="b" l="l" r="r" t="t"/>
              <a:pathLst>
                <a:path extrusionOk="0" h="12627" w="12628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9"/>
            <p:cNvSpPr/>
            <p:nvPr/>
          </p:nvSpPr>
          <p:spPr>
            <a:xfrm>
              <a:off x="3992525" y="3021125"/>
              <a:ext cx="242425" cy="242425"/>
            </a:xfrm>
            <a:custGeom>
              <a:rect b="b" l="l" r="r" t="t"/>
              <a:pathLst>
                <a:path extrusionOk="0" h="9697" w="9697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9"/>
            <p:cNvSpPr/>
            <p:nvPr/>
          </p:nvSpPr>
          <p:spPr>
            <a:xfrm>
              <a:off x="4215400" y="3253150"/>
              <a:ext cx="154500" cy="153875"/>
            </a:xfrm>
            <a:custGeom>
              <a:rect b="b" l="l" r="r" t="t"/>
              <a:pathLst>
                <a:path extrusionOk="0" h="6155" w="618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2" name="Google Shape;28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050" y="1410224"/>
            <a:ext cx="3740504" cy="2595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8076" y="1410224"/>
            <a:ext cx="4160874" cy="254674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9">
            <a:hlinkClick action="ppaction://hlinksldjump" r:id="rId5"/>
          </p:cNvPr>
          <p:cNvSpPr/>
          <p:nvPr/>
        </p:nvSpPr>
        <p:spPr>
          <a:xfrm>
            <a:off x="8706605" y="4727944"/>
            <a:ext cx="321896" cy="34024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C000"/>
          </a:solidFill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"/>
          <p:cNvSpPr txBox="1"/>
          <p:nvPr>
            <p:ph type="title"/>
          </p:nvPr>
        </p:nvSpPr>
        <p:spPr>
          <a:xfrm>
            <a:off x="851117" y="445829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n-US" sz="3600"/>
              <a:t>Таблица </a:t>
            </a:r>
            <a:r>
              <a:rPr lang="en-US" sz="3600">
                <a:solidFill>
                  <a:srgbClr val="FFB600"/>
                </a:solidFill>
              </a:rPr>
              <a:t>Rooms</a:t>
            </a:r>
            <a:r>
              <a:rPr lang="en-US" sz="3600"/>
              <a:t> </a:t>
            </a:r>
            <a:endParaRPr sz="3600"/>
          </a:p>
        </p:txBody>
      </p:sp>
      <p:grpSp>
        <p:nvGrpSpPr>
          <p:cNvPr id="290" name="Google Shape;290;p30"/>
          <p:cNvGrpSpPr/>
          <p:nvPr/>
        </p:nvGrpSpPr>
        <p:grpSpPr>
          <a:xfrm>
            <a:off x="8089119" y="319162"/>
            <a:ext cx="728350" cy="743348"/>
            <a:chOff x="3955900" y="2984500"/>
            <a:chExt cx="414000" cy="422525"/>
          </a:xfrm>
        </p:grpSpPr>
        <p:sp>
          <p:nvSpPr>
            <p:cNvPr id="291" name="Google Shape;291;p30"/>
            <p:cNvSpPr/>
            <p:nvPr/>
          </p:nvSpPr>
          <p:spPr>
            <a:xfrm>
              <a:off x="3955900" y="2984500"/>
              <a:ext cx="315700" cy="315675"/>
            </a:xfrm>
            <a:custGeom>
              <a:rect b="b" l="l" r="r" t="t"/>
              <a:pathLst>
                <a:path extrusionOk="0" h="12627" w="12628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30"/>
            <p:cNvSpPr/>
            <p:nvPr/>
          </p:nvSpPr>
          <p:spPr>
            <a:xfrm>
              <a:off x="3992525" y="3021125"/>
              <a:ext cx="242425" cy="242425"/>
            </a:xfrm>
            <a:custGeom>
              <a:rect b="b" l="l" r="r" t="t"/>
              <a:pathLst>
                <a:path extrusionOk="0" h="9697" w="9697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30"/>
            <p:cNvSpPr/>
            <p:nvPr/>
          </p:nvSpPr>
          <p:spPr>
            <a:xfrm>
              <a:off x="4215400" y="3253150"/>
              <a:ext cx="154500" cy="153875"/>
            </a:xfrm>
            <a:custGeom>
              <a:rect b="b" l="l" r="r" t="t"/>
              <a:pathLst>
                <a:path extrusionOk="0" h="6155" w="618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94" name="Google Shape;29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916" y="1613247"/>
            <a:ext cx="8060135" cy="191700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0">
            <a:hlinkClick action="ppaction://hlinksldjump" r:id="rId4"/>
          </p:cNvPr>
          <p:cNvSpPr/>
          <p:nvPr/>
        </p:nvSpPr>
        <p:spPr>
          <a:xfrm>
            <a:off x="8706605" y="4727944"/>
            <a:ext cx="321896" cy="34024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C000"/>
          </a:solidFill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1"/>
          <p:cNvSpPr txBox="1"/>
          <p:nvPr>
            <p:ph type="title"/>
          </p:nvPr>
        </p:nvSpPr>
        <p:spPr>
          <a:xfrm>
            <a:off x="851117" y="445829"/>
            <a:ext cx="68661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800"/>
              <a:buNone/>
            </a:pPr>
            <a:r>
              <a:rPr lang="en-US" sz="3600"/>
              <a:t>Таблица </a:t>
            </a:r>
            <a:r>
              <a:rPr lang="en-US" sz="3600">
                <a:solidFill>
                  <a:srgbClr val="FFB600"/>
                </a:solidFill>
              </a:rPr>
              <a:t>RoomTypes</a:t>
            </a:r>
            <a:r>
              <a:rPr lang="en-US" sz="3600"/>
              <a:t> </a:t>
            </a:r>
            <a:endParaRPr sz="3600"/>
          </a:p>
        </p:txBody>
      </p:sp>
      <p:grpSp>
        <p:nvGrpSpPr>
          <p:cNvPr id="301" name="Google Shape;301;p31"/>
          <p:cNvGrpSpPr/>
          <p:nvPr/>
        </p:nvGrpSpPr>
        <p:grpSpPr>
          <a:xfrm>
            <a:off x="8089119" y="319162"/>
            <a:ext cx="728350" cy="743348"/>
            <a:chOff x="3955900" y="2984500"/>
            <a:chExt cx="414000" cy="422525"/>
          </a:xfrm>
        </p:grpSpPr>
        <p:sp>
          <p:nvSpPr>
            <p:cNvPr id="302" name="Google Shape;302;p31"/>
            <p:cNvSpPr/>
            <p:nvPr/>
          </p:nvSpPr>
          <p:spPr>
            <a:xfrm>
              <a:off x="3955900" y="2984500"/>
              <a:ext cx="315700" cy="315675"/>
            </a:xfrm>
            <a:custGeom>
              <a:rect b="b" l="l" r="r" t="t"/>
              <a:pathLst>
                <a:path extrusionOk="0" h="12627" w="12628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31"/>
            <p:cNvSpPr/>
            <p:nvPr/>
          </p:nvSpPr>
          <p:spPr>
            <a:xfrm>
              <a:off x="3992525" y="3021125"/>
              <a:ext cx="242425" cy="242425"/>
            </a:xfrm>
            <a:custGeom>
              <a:rect b="b" l="l" r="r" t="t"/>
              <a:pathLst>
                <a:path extrusionOk="0" h="9697" w="9697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31"/>
            <p:cNvSpPr/>
            <p:nvPr/>
          </p:nvSpPr>
          <p:spPr>
            <a:xfrm>
              <a:off x="4215400" y="3253150"/>
              <a:ext cx="154500" cy="153875"/>
            </a:xfrm>
            <a:custGeom>
              <a:rect b="b" l="l" r="r" t="t"/>
              <a:pathLst>
                <a:path extrusionOk="0" h="6155" w="618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B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05" name="Google Shape;3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5977" y="1786148"/>
            <a:ext cx="6052046" cy="157120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1">
            <a:hlinkClick action="ppaction://hlinksldjump" r:id="rId4"/>
          </p:cNvPr>
          <p:cNvSpPr/>
          <p:nvPr/>
        </p:nvSpPr>
        <p:spPr>
          <a:xfrm>
            <a:off x="8706605" y="4727944"/>
            <a:ext cx="321896" cy="34024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C000"/>
          </a:solidFill>
          <a:ln cap="flat" cmpd="sng" w="25400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ivi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